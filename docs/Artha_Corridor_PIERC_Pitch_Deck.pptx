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panel members. Mera naam [Your Name] hai, aur aaj main aapke saamne pitch kar raha hoon Artha Corridor — India ke 1.84 crore manufacturers aur unhe source karne wale global buyers ke beech mein ek AI-powered trust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Sir, problem yeh hai: jab ek German ya US buyer India se manufacturing sourcing karna chahta hai, toh legacy directories par sirf kachra data milta hai. IndiaMART ka ₹1,569 crore revenue aata hai bina ek bhi factory verify kiye. SGS audit $5,000 lagta hai ek factory ka. Result? 60% se zyada brokers hote hain aur buyers ka 3-6 months waste ho jata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Teen cheezein ek saath ho rahi hain. Pehla: China+1 ab board-level reality hai — India FDI $81 billion tak pahunch chuka hai. Doosra: MSMEs ab India ke 48.58% exports handle karte hain aur govt ne ₹25,000 Cr ka mission diya hai. Teesra: Traditional D&amp;B risk tools fail ho rahe hain kyunki 94% MSMEs unorganized hain. Artha is exact timing window ko capture karta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Artha teen simple kaam karta hai: Verify, Score, Match. Factory register hoti hai — hum use government registries aur ground data se verify karte hain. Phir ek 100-point trust score compute hota hai jo khareed nahi sakte, sirf data se milta hai. Jab international buyer requirement submit karta hai, humara AI matched factories ko confidence score ke sath rank karta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vaporware nahi hai. Phase 1 already functional hai codebase mein — deterministic multi-attribute scoring with hard constraints. Funding ke sath Phase 2 add hoga: NLP intent parsing and semantic embeddings. Trust score mein freshness decay hai — agar 180 din se factory ne data update nahi kiya, score 15% drop ho jayega. Trust static nahi, continuous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opportunity verified hai: SAM ₹2,600 crore hai. Hum Year 1 mein ₹50 Lakh ARR target kar rahe hain from 500 factories. Hum start Gujarat ke Makarpura GIDC se kar rahe hain jo Parul campus se 40 min door hai. Marketplace mein density breadth se jeetti hai — hum pehle ek cluster dominate karenge, phir expand karenge.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revenue: supplier verification fees. Free se lekar ₹29,999/yr tak — jo SGS ke $5,000 se 90% sasta hai. Sabse important rule: aap audit ka fee dete hain, ranking ka nahi. MSMEs already IndiaMART ko ₹71,000/yr dete hain spam leads ke liye. Artha unhe 86% less cost mein international exposure deta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IndiaMART verification kyun nahi karta? Kyunki unka ₹1,569 Cr revenue volume pe chalta hai. Agar unhone verification mandatory kiya, 60% paying subscribers disqualify ho jayenge. Yeh feature gap nahi hai, yeh business model trap hai. Artha ka revenue trust quality se aligned hai, aur humara real data moat field operations se build hota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ne akele poora technical foundation build kiya hai — 95 routes, 47 components, 7-state verification machine, ISO 7064 GST checksum, AI matching — sab production-grade TypeScript mein with zero errors. Yeh MVP proves ki founder build kar sakta hai. PIERC ke support se hum is architecture ko real GIDC factory data se connect karenge.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Meri request hai: PIERC Idea Stage cohort mein selection. Hum PIERC ke 3-stage program ke saath perfectly align kar rahe hain — Idea Stage mein local Makarpura validation, Prototype mein live deployment and IPR support, aur Growth stage mein international buyer matchmaking. Up to ₹10 Lakhs ka support Parul ke developers ko hire karne, field operations run karne aur production APIs link karne mein strictly use hoga. Thank you, ab aapke koi questions ho toh please poochiye.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731520" y="1097280"/>
            <a:ext cx="2377440" cy="365760"/>
          </a:xfrm>
          <a:prstGeom prst="roundRect">
            <a:avLst>
              <a:gd name="adj" fmla="val 50000"/>
            </a:avLst>
          </a:prstGeom>
          <a:solidFill>
            <a:srgbClr val="1E293B"/>
          </a:solidFill>
          <a:ln w="19050">
            <a:solidFill>
              <a:srgbClr val="EA580C"/>
            </a:solidFill>
            <a:prstDash val="solid"/>
          </a:ln>
        </p:spPr>
      </p:sp>
      <p:sp>
        <p:nvSpPr>
          <p:cNvPr id="3" name="Text 1"/>
          <p:cNvSpPr/>
          <p:nvPr/>
        </p:nvSpPr>
        <p:spPr>
          <a:xfrm>
            <a:off x="731520" y="1097280"/>
            <a:ext cx="2377440" cy="365760"/>
          </a:xfrm>
          <a:prstGeom prst="rect">
            <a:avLst/>
          </a:prstGeom>
          <a:noFill/>
          <a:ln/>
        </p:spPr>
        <p:txBody>
          <a:bodyPr wrap="square" rtlCol="0" anchor="ctr"/>
          <a:lstStyle/>
          <a:p>
            <a:pPr algn="ctr" indent="0" marL="0">
              <a:buNone/>
            </a:pPr>
            <a:r>
              <a:rPr lang="en-US" sz="1100" b="1" dirty="0">
                <a:solidFill>
                  <a:srgbClr val="EA580C"/>
                </a:solidFill>
                <a:latin typeface="Segoe UI" pitchFamily="34" charset="0"/>
                <a:ea typeface="Segoe UI" pitchFamily="34" charset="-122"/>
                <a:cs typeface="Segoe UI" pitchFamily="34" charset="-120"/>
              </a:rPr>
              <a:t>PIERC IDEA-STAGE PITCH</a:t>
            </a:r>
            <a:endParaRPr lang="en-US" sz="1100" dirty="0"/>
          </a:p>
        </p:txBody>
      </p:sp>
      <p:sp>
        <p:nvSpPr>
          <p:cNvPr id="4" name="Text 2"/>
          <p:cNvSpPr/>
          <p:nvPr/>
        </p:nvSpPr>
        <p:spPr>
          <a:xfrm>
            <a:off x="731520" y="1645920"/>
            <a:ext cx="10515600" cy="1005840"/>
          </a:xfrm>
          <a:prstGeom prst="rect">
            <a:avLst/>
          </a:prstGeom>
          <a:noFill/>
          <a:ln/>
        </p:spPr>
        <p:txBody>
          <a:bodyPr wrap="square" rtlCol="0" anchor="ctr"/>
          <a:lstStyle/>
          <a:p>
            <a:pPr indent="0" marL="0">
              <a:buNone/>
            </a:pPr>
            <a:r>
              <a:rPr lang="en-US" sz="4600" b="1" dirty="0">
                <a:solidFill>
                  <a:srgbClr val="FFFFFF"/>
                </a:solidFill>
                <a:latin typeface="Segoe UI" pitchFamily="34" charset="0"/>
                <a:ea typeface="Segoe UI" pitchFamily="34" charset="-122"/>
                <a:cs typeface="Segoe UI" pitchFamily="34" charset="-120"/>
              </a:rPr>
              <a:t>ARTHA CORRIDOR</a:t>
            </a:r>
            <a:endParaRPr lang="en-US" sz="4600" dirty="0"/>
          </a:p>
        </p:txBody>
      </p:sp>
      <p:sp>
        <p:nvSpPr>
          <p:cNvPr id="5" name="Text 3"/>
          <p:cNvSpPr/>
          <p:nvPr/>
        </p:nvSpPr>
        <p:spPr>
          <a:xfrm>
            <a:off x="731520" y="2651760"/>
            <a:ext cx="10058400" cy="548640"/>
          </a:xfrm>
          <a:prstGeom prst="rect">
            <a:avLst/>
          </a:prstGeom>
          <a:noFill/>
          <a:ln/>
        </p:spPr>
        <p:txBody>
          <a:bodyPr wrap="square" rtlCol="0" anchor="ctr"/>
          <a:lstStyle/>
          <a:p>
            <a:pPr indent="0" marL="0">
              <a:buNone/>
            </a:pPr>
            <a:r>
              <a:rPr lang="en-US" sz="2000" b="1" dirty="0">
                <a:solidFill>
                  <a:srgbClr val="D97706"/>
                </a:solidFill>
                <a:latin typeface="Segoe UI" pitchFamily="34" charset="0"/>
                <a:ea typeface="Segoe UI" pitchFamily="34" charset="-122"/>
                <a:cs typeface="Segoe UI" pitchFamily="34" charset="-120"/>
              </a:rPr>
              <a:t>AI-Powered Trust Infrastructure for India’s Manufacturing Export Economy</a:t>
            </a:r>
            <a:endParaRPr lang="en-US" sz="2000" dirty="0"/>
          </a:p>
        </p:txBody>
      </p:sp>
      <p:sp>
        <p:nvSpPr>
          <p:cNvPr id="6" name="Shape 4"/>
          <p:cNvSpPr/>
          <p:nvPr/>
        </p:nvSpPr>
        <p:spPr>
          <a:xfrm>
            <a:off x="731520" y="3383280"/>
            <a:ext cx="10515600" cy="0"/>
          </a:xfrm>
          <a:prstGeom prst="line">
            <a:avLst/>
          </a:prstGeom>
          <a:noFill/>
          <a:ln w="19050">
            <a:solidFill>
              <a:srgbClr val="334155"/>
            </a:solidFill>
            <a:prstDash val="solid"/>
          </a:ln>
        </p:spPr>
      </p:sp>
      <p:sp>
        <p:nvSpPr>
          <p:cNvPr id="7" name="Shape 5"/>
          <p:cNvSpPr/>
          <p:nvPr/>
        </p:nvSpPr>
        <p:spPr>
          <a:xfrm>
            <a:off x="731520" y="3749040"/>
            <a:ext cx="3291840" cy="1097280"/>
          </a:xfrm>
          <a:prstGeom prst="roundRect">
            <a:avLst>
              <a:gd name="adj" fmla="val 12500"/>
            </a:avLst>
          </a:prstGeom>
          <a:solidFill>
            <a:srgbClr val="1C2541"/>
          </a:solidFill>
          <a:ln w="12700">
            <a:solidFill>
              <a:srgbClr val="334155"/>
            </a:solidFill>
            <a:prstDash val="solid"/>
          </a:ln>
        </p:spPr>
      </p:sp>
      <p:sp>
        <p:nvSpPr>
          <p:cNvPr id="8" name="Text 6"/>
          <p:cNvSpPr/>
          <p:nvPr/>
        </p:nvSpPr>
        <p:spPr>
          <a:xfrm>
            <a:off x="1005840" y="3886200"/>
            <a:ext cx="2743200" cy="320040"/>
          </a:xfrm>
          <a:prstGeom prst="rect">
            <a:avLst/>
          </a:prstGeom>
          <a:noFill/>
          <a:ln/>
        </p:spPr>
        <p:txBody>
          <a:bodyPr wrap="square" rtlCol="0" anchor="ctr"/>
          <a:lstStyle/>
          <a:p>
            <a:pPr indent="0" marL="0">
              <a:buNone/>
            </a:pPr>
            <a:r>
              <a:rPr lang="en-US" sz="1400" b="1" dirty="0">
                <a:solidFill>
                  <a:srgbClr val="EA580C"/>
                </a:solidFill>
                <a:latin typeface="Segoe UI" pitchFamily="34" charset="0"/>
                <a:ea typeface="Segoe UI" pitchFamily="34" charset="-122"/>
                <a:cs typeface="Segoe UI" pitchFamily="34" charset="-120"/>
              </a:rPr>
              <a:t>VERIFY</a:t>
            </a:r>
            <a:endParaRPr lang="en-US" sz="1400" dirty="0"/>
          </a:p>
        </p:txBody>
      </p:sp>
      <p:sp>
        <p:nvSpPr>
          <p:cNvPr id="9" name="Text 7"/>
          <p:cNvSpPr/>
          <p:nvPr/>
        </p:nvSpPr>
        <p:spPr>
          <a:xfrm>
            <a:off x="1005840" y="4251960"/>
            <a:ext cx="2743200" cy="457200"/>
          </a:xfrm>
          <a:prstGeom prst="rect">
            <a:avLst/>
          </a:prstGeom>
          <a:noFill/>
          <a:ln/>
        </p:spPr>
        <p:txBody>
          <a:bodyPr wrap="square" rtlCol="0" anchor="t"/>
          <a:lstStyle/>
          <a:p>
            <a:pPr indent="0" marL="0">
              <a:buNone/>
            </a:pPr>
            <a:r>
              <a:rPr lang="en-US" sz="1100" dirty="0">
                <a:solidFill>
                  <a:srgbClr val="94A3B8"/>
                </a:solidFill>
                <a:latin typeface="Segoe UI" pitchFamily="34" charset="0"/>
                <a:ea typeface="Segoe UI" pitchFamily="34" charset="-122"/>
                <a:cs typeface="Segoe UI" pitchFamily="34" charset="-120"/>
              </a:rPr>
              <a:t>ISO 7064 Checksum + Live Registry APIs</a:t>
            </a:r>
            <a:endParaRPr lang="en-US" sz="1100" dirty="0"/>
          </a:p>
        </p:txBody>
      </p:sp>
      <p:sp>
        <p:nvSpPr>
          <p:cNvPr id="10" name="Shape 8"/>
          <p:cNvSpPr/>
          <p:nvPr/>
        </p:nvSpPr>
        <p:spPr>
          <a:xfrm>
            <a:off x="4297680" y="3749040"/>
            <a:ext cx="3291840" cy="1097280"/>
          </a:xfrm>
          <a:prstGeom prst="roundRect">
            <a:avLst>
              <a:gd name="adj" fmla="val 12500"/>
            </a:avLst>
          </a:prstGeom>
          <a:solidFill>
            <a:srgbClr val="1C2541"/>
          </a:solidFill>
          <a:ln w="12700">
            <a:solidFill>
              <a:srgbClr val="334155"/>
            </a:solidFill>
            <a:prstDash val="solid"/>
          </a:ln>
        </p:spPr>
      </p:sp>
      <p:sp>
        <p:nvSpPr>
          <p:cNvPr id="11" name="Text 9"/>
          <p:cNvSpPr/>
          <p:nvPr/>
        </p:nvSpPr>
        <p:spPr>
          <a:xfrm>
            <a:off x="4572000" y="3886200"/>
            <a:ext cx="2743200" cy="320040"/>
          </a:xfrm>
          <a:prstGeom prst="rect">
            <a:avLst/>
          </a:prstGeom>
          <a:noFill/>
          <a:ln/>
        </p:spPr>
        <p:txBody>
          <a:bodyPr wrap="square" rtlCol="0" anchor="ctr"/>
          <a:lstStyle/>
          <a:p>
            <a:pPr indent="0" marL="0">
              <a:buNone/>
            </a:pPr>
            <a:r>
              <a:rPr lang="en-US" sz="1400" b="1" dirty="0">
                <a:solidFill>
                  <a:srgbClr val="EA580C"/>
                </a:solidFill>
                <a:latin typeface="Segoe UI" pitchFamily="34" charset="0"/>
                <a:ea typeface="Segoe UI" pitchFamily="34" charset="-122"/>
                <a:cs typeface="Segoe UI" pitchFamily="34" charset="-120"/>
              </a:rPr>
              <a:t>SCORE</a:t>
            </a:r>
            <a:endParaRPr lang="en-US" sz="1400" dirty="0"/>
          </a:p>
        </p:txBody>
      </p:sp>
      <p:sp>
        <p:nvSpPr>
          <p:cNvPr id="12" name="Text 10"/>
          <p:cNvSpPr/>
          <p:nvPr/>
        </p:nvSpPr>
        <p:spPr>
          <a:xfrm>
            <a:off x="4572000" y="4251960"/>
            <a:ext cx="2743200" cy="457200"/>
          </a:xfrm>
          <a:prstGeom prst="rect">
            <a:avLst/>
          </a:prstGeom>
          <a:noFill/>
          <a:ln/>
        </p:spPr>
        <p:txBody>
          <a:bodyPr wrap="square" rtlCol="0" anchor="t"/>
          <a:lstStyle/>
          <a:p>
            <a:pPr indent="0" marL="0">
              <a:buNone/>
            </a:pPr>
            <a:r>
              <a:rPr lang="en-US" sz="1100" dirty="0">
                <a:solidFill>
                  <a:srgbClr val="94A3B8"/>
                </a:solidFill>
                <a:latin typeface="Segoe UI" pitchFamily="34" charset="0"/>
                <a:ea typeface="Segoe UI" pitchFamily="34" charset="-122"/>
                <a:cs typeface="Segoe UI" pitchFamily="34" charset="-120"/>
              </a:rPr>
              <a:t>Un-purchasable 100-Point Trust Metric</a:t>
            </a:r>
            <a:endParaRPr lang="en-US" sz="1100" dirty="0"/>
          </a:p>
        </p:txBody>
      </p:sp>
      <p:sp>
        <p:nvSpPr>
          <p:cNvPr id="13" name="Shape 11"/>
          <p:cNvSpPr/>
          <p:nvPr/>
        </p:nvSpPr>
        <p:spPr>
          <a:xfrm>
            <a:off x="7863840" y="3749040"/>
            <a:ext cx="3291840" cy="1097280"/>
          </a:xfrm>
          <a:prstGeom prst="roundRect">
            <a:avLst>
              <a:gd name="adj" fmla="val 12500"/>
            </a:avLst>
          </a:prstGeom>
          <a:solidFill>
            <a:srgbClr val="1C2541"/>
          </a:solidFill>
          <a:ln w="12700">
            <a:solidFill>
              <a:srgbClr val="334155"/>
            </a:solidFill>
            <a:prstDash val="solid"/>
          </a:ln>
        </p:spPr>
      </p:sp>
      <p:sp>
        <p:nvSpPr>
          <p:cNvPr id="14" name="Text 12"/>
          <p:cNvSpPr/>
          <p:nvPr/>
        </p:nvSpPr>
        <p:spPr>
          <a:xfrm>
            <a:off x="8138160" y="3886200"/>
            <a:ext cx="2743200" cy="320040"/>
          </a:xfrm>
          <a:prstGeom prst="rect">
            <a:avLst/>
          </a:prstGeom>
          <a:noFill/>
          <a:ln/>
        </p:spPr>
        <p:txBody>
          <a:bodyPr wrap="square" rtlCol="0" anchor="ctr"/>
          <a:lstStyle/>
          <a:p>
            <a:pPr indent="0" marL="0">
              <a:buNone/>
            </a:pPr>
            <a:r>
              <a:rPr lang="en-US" sz="1400" b="1" dirty="0">
                <a:solidFill>
                  <a:srgbClr val="EA580C"/>
                </a:solidFill>
                <a:latin typeface="Segoe UI" pitchFamily="34" charset="0"/>
                <a:ea typeface="Segoe UI" pitchFamily="34" charset="-122"/>
                <a:cs typeface="Segoe UI" pitchFamily="34" charset="-120"/>
              </a:rPr>
              <a:t>MATCH</a:t>
            </a:r>
            <a:endParaRPr lang="en-US" sz="1400" dirty="0"/>
          </a:p>
        </p:txBody>
      </p:sp>
      <p:sp>
        <p:nvSpPr>
          <p:cNvPr id="15" name="Text 13"/>
          <p:cNvSpPr/>
          <p:nvPr/>
        </p:nvSpPr>
        <p:spPr>
          <a:xfrm>
            <a:off x="8138160" y="4251960"/>
            <a:ext cx="2743200" cy="457200"/>
          </a:xfrm>
          <a:prstGeom prst="rect">
            <a:avLst/>
          </a:prstGeom>
          <a:noFill/>
          <a:ln/>
        </p:spPr>
        <p:txBody>
          <a:bodyPr wrap="square" rtlCol="0" anchor="t"/>
          <a:lstStyle/>
          <a:p>
            <a:pPr indent="0" marL="0">
              <a:buNone/>
            </a:pPr>
            <a:r>
              <a:rPr lang="en-US" sz="1100" dirty="0">
                <a:solidFill>
                  <a:srgbClr val="94A3B8"/>
                </a:solidFill>
                <a:latin typeface="Segoe UI" pitchFamily="34" charset="0"/>
                <a:ea typeface="Segoe UI" pitchFamily="34" charset="-122"/>
                <a:cs typeface="Segoe UI" pitchFamily="34" charset="-120"/>
              </a:rPr>
              <a:t>AI-Powered Sourcing with Evidence Cards</a:t>
            </a:r>
            <a:endParaRPr lang="en-US" sz="1100" dirty="0"/>
          </a:p>
        </p:txBody>
      </p:sp>
      <p:sp>
        <p:nvSpPr>
          <p:cNvPr id="16" name="Text 14"/>
          <p:cNvSpPr/>
          <p:nvPr/>
        </p:nvSpPr>
        <p:spPr>
          <a:xfrm>
            <a:off x="731520" y="5394960"/>
            <a:ext cx="10515600" cy="731520"/>
          </a:xfrm>
          <a:prstGeom prst="rect">
            <a:avLst/>
          </a:prstGeom>
          <a:noFill/>
          <a:ln/>
        </p:spPr>
        <p:txBody>
          <a:bodyPr wrap="square" rtlCol="0" anchor="ctr"/>
          <a:lstStyle/>
          <a:p>
            <a:pPr indent="0" marL="0">
              <a:buNone/>
            </a:pPr>
            <a:r>
              <a:rPr lang="en-US" sz="1200" dirty="0">
                <a:solidFill>
                  <a:srgbClr val="64748B"/>
                </a:solidFill>
                <a:latin typeface="Segoe UI" pitchFamily="34" charset="0"/>
                <a:ea typeface="Segoe UI" pitchFamily="34" charset="-122"/>
                <a:cs typeface="Segoe UI" pitchFamily="34" charset="-120"/>
              </a:rPr>
              <a:t>Applying for PIERC Idea-Stage Support · Parul Innovation &amp; Entrepreneurship Research Centre (PIERC)</a:t>
            </a:r>
            <a:endParaRPr lang="en-US" sz="1200" dirty="0"/>
          </a:p>
          <a:p>
            <a:pPr indent="0" marL="0">
              <a:buNone/>
            </a:pPr>
            <a:r>
              <a:rPr lang="en-US" sz="1200" dirty="0">
                <a:solidFill>
                  <a:srgbClr val="64748B"/>
                </a:solidFill>
                <a:latin typeface="Segoe UI" pitchFamily="34" charset="0"/>
                <a:ea typeface="Segoe UI" pitchFamily="34" charset="-122"/>
                <a:cs typeface="Segoe UI" pitchFamily="34" charset="-120"/>
              </a:rPr>
              <a:t>Vadodara, Gujarat · August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65760"/>
            <a:ext cx="2286000" cy="320040"/>
          </a:xfrm>
          <a:prstGeom prst="roundRect">
            <a:avLst>
              <a:gd name="adj" fmla="val 42857"/>
            </a:avLst>
          </a:prstGeom>
          <a:solidFill>
            <a:srgbClr val="FFF7ED"/>
          </a:solidFill>
          <a:ln w="12700">
            <a:solidFill>
              <a:srgbClr val="EA580C"/>
            </a:solidFill>
            <a:prstDash val="solid"/>
          </a:ln>
        </p:spPr>
      </p:sp>
      <p:sp>
        <p:nvSpPr>
          <p:cNvPr id="3" name="Text 1"/>
          <p:cNvSpPr/>
          <p:nvPr/>
        </p:nvSpPr>
        <p:spPr>
          <a:xfrm>
            <a:off x="731520" y="365760"/>
            <a:ext cx="2286000" cy="320040"/>
          </a:xfrm>
          <a:prstGeom prst="rect">
            <a:avLst/>
          </a:prstGeom>
          <a:noFill/>
          <a:ln/>
        </p:spPr>
        <p:txBody>
          <a:bodyPr wrap="square" rtlCol="0" anchor="ctr"/>
          <a:lstStyle/>
          <a:p>
            <a:pPr algn="ctr" indent="0" marL="0">
              <a:buNone/>
            </a:pPr>
            <a:r>
              <a:rPr lang="en-US" sz="1000" b="1" dirty="0">
                <a:solidFill>
                  <a:srgbClr val="C2410C"/>
                </a:solidFill>
                <a:latin typeface="Segoe UI" pitchFamily="34" charset="0"/>
                <a:ea typeface="Segoe UI" pitchFamily="34" charset="-122"/>
                <a:cs typeface="Segoe UI" pitchFamily="34" charset="-120"/>
              </a:rPr>
              <a:t>THE CRITICAL PROBLEM</a:t>
            </a:r>
            <a:endParaRPr lang="en-US" sz="1000" dirty="0"/>
          </a:p>
        </p:txBody>
      </p:sp>
      <p:sp>
        <p:nvSpPr>
          <p:cNvPr id="4" name="Text 2"/>
          <p:cNvSpPr/>
          <p:nvPr/>
        </p:nvSpPr>
        <p:spPr>
          <a:xfrm>
            <a:off x="731520" y="731520"/>
            <a:ext cx="10515600" cy="502920"/>
          </a:xfrm>
          <a:prstGeom prst="rect">
            <a:avLst/>
          </a:prstGeom>
          <a:noFill/>
          <a:ln/>
        </p:spPr>
        <p:txBody>
          <a:bodyPr wrap="square" rtlCol="0" anchor="ctr"/>
          <a:lstStyle/>
          <a:p>
            <a:pPr indent="0" marL="0">
              <a:buNone/>
            </a:pPr>
            <a:r>
              <a:rPr lang="en-US" sz="2200" b="1" dirty="0">
                <a:solidFill>
                  <a:srgbClr val="0F172A"/>
                </a:solidFill>
                <a:latin typeface="Segoe UI" pitchFamily="34" charset="0"/>
                <a:ea typeface="Segoe UI" pitchFamily="34" charset="-122"/>
                <a:cs typeface="Segoe UI" pitchFamily="34" charset="-120"/>
              </a:rPr>
              <a:t>1.84 Crore Manufacturers. Zero Trusted Way to Verify Them.</a:t>
            </a:r>
            <a:endParaRPr lang="en-US" sz="2200" dirty="0"/>
          </a:p>
        </p:txBody>
      </p:sp>
      <p:sp>
        <p:nvSpPr>
          <p:cNvPr id="5" name="Text 3"/>
          <p:cNvSpPr/>
          <p:nvPr/>
        </p:nvSpPr>
        <p:spPr>
          <a:xfrm>
            <a:off x="731520" y="1234440"/>
            <a:ext cx="10515600" cy="320040"/>
          </a:xfrm>
          <a:prstGeom prst="rect">
            <a:avLst/>
          </a:prstGeom>
          <a:noFill/>
          <a:ln/>
        </p:spPr>
        <p:txBody>
          <a:bodyPr wrap="square" rtlCol="0" anchor="ctr"/>
          <a:lstStyle/>
          <a:p>
            <a:pPr indent="0" marL="0">
              <a:buNone/>
            </a:pPr>
            <a:r>
              <a:rPr lang="en-US" sz="1200" dirty="0">
                <a:solidFill>
                  <a:srgbClr val="475569"/>
                </a:solidFill>
                <a:latin typeface="Segoe UI" pitchFamily="34" charset="0"/>
                <a:ea typeface="Segoe UI" pitchFamily="34" charset="-122"/>
                <a:cs typeface="Segoe UI" pitchFamily="34" charset="-120"/>
              </a:rPr>
              <a:t>Global buyers executing China+1 mandates hit a wall of unverified brokers, ghost factories, and lead spam.</a:t>
            </a:r>
            <a:endParaRPr lang="en-US" sz="1200" dirty="0"/>
          </a:p>
        </p:txBody>
      </p:sp>
      <p:sp>
        <p:nvSpPr>
          <p:cNvPr id="6" name="Shape 4"/>
          <p:cNvSpPr/>
          <p:nvPr/>
        </p:nvSpPr>
        <p:spPr>
          <a:xfrm>
            <a:off x="731520" y="1645920"/>
            <a:ext cx="10698480" cy="914400"/>
          </a:xfrm>
          <a:prstGeom prst="roundRect">
            <a:avLst>
              <a:gd name="adj" fmla="val 15000"/>
            </a:avLst>
          </a:prstGeom>
          <a:solidFill>
            <a:srgbClr val="FEF2F2"/>
          </a:solidFill>
          <a:ln w="19050">
            <a:solidFill>
              <a:srgbClr val="DC2626"/>
            </a:solidFill>
            <a:prstDash val="solid"/>
          </a:ln>
        </p:spPr>
      </p:sp>
      <p:sp>
        <p:nvSpPr>
          <p:cNvPr id="7" name="Text 5"/>
          <p:cNvSpPr/>
          <p:nvPr/>
        </p:nvSpPr>
        <p:spPr>
          <a:xfrm>
            <a:off x="1005840" y="1645920"/>
            <a:ext cx="10149840" cy="914400"/>
          </a:xfrm>
          <a:prstGeom prst="rect">
            <a:avLst/>
          </a:prstGeom>
          <a:noFill/>
          <a:ln/>
        </p:spPr>
        <p:txBody>
          <a:bodyPr wrap="square" rtlCol="0" anchor="ctr"/>
          <a:lstStyle/>
          <a:p>
            <a:pPr algn="ctr" indent="0" marL="0">
              <a:buNone/>
            </a:pPr>
            <a:r>
              <a:rPr lang="en-US" sz="1300" b="1" dirty="0">
                <a:solidFill>
                  <a:srgbClr val="DC2626"/>
                </a:solidFill>
                <a:latin typeface="Segoe UI" pitchFamily="34" charset="0"/>
                <a:ea typeface="Segoe UI" pitchFamily="34" charset="-122"/>
                <a:cs typeface="Segoe UI" pitchFamily="34" charset="-120"/>
              </a:rPr>
              <a:t>THE PAIN IN NUMBERS: 60%+ of directory listings are trading middlemen posing as factories · 3 to 6 months &amp; $2K–$5K wasted per supplier vetting cycle.</a:t>
            </a:r>
            <a:endParaRPr lang="en-US" sz="1300" dirty="0"/>
          </a:p>
        </p:txBody>
      </p:sp>
      <p:sp>
        <p:nvSpPr>
          <p:cNvPr id="8" name="Shape 6"/>
          <p:cNvSpPr/>
          <p:nvPr/>
        </p:nvSpPr>
        <p:spPr>
          <a:xfrm>
            <a:off x="731520" y="2743200"/>
            <a:ext cx="3383280" cy="3291840"/>
          </a:xfrm>
          <a:prstGeom prst="roundRect">
            <a:avLst>
              <a:gd name="adj" fmla="val 4167"/>
            </a:avLst>
          </a:prstGeom>
          <a:solidFill>
            <a:srgbClr val="FFFFFF"/>
          </a:solidFill>
          <a:ln w="19050">
            <a:solidFill>
              <a:srgbClr val="E2E8F0"/>
            </a:solidFill>
            <a:prstDash val="solid"/>
          </a:ln>
        </p:spPr>
      </p:sp>
      <p:sp>
        <p:nvSpPr>
          <p:cNvPr id="9" name="Text 7"/>
          <p:cNvSpPr/>
          <p:nvPr/>
        </p:nvSpPr>
        <p:spPr>
          <a:xfrm>
            <a:off x="1005840" y="2926080"/>
            <a:ext cx="2834640" cy="411480"/>
          </a:xfrm>
          <a:prstGeom prst="rect">
            <a:avLst/>
          </a:prstGeom>
          <a:noFill/>
          <a:ln/>
        </p:spPr>
        <p:txBody>
          <a:bodyPr wrap="square" rtlCol="0" anchor="t"/>
          <a:lstStyle/>
          <a:p>
            <a:pPr indent="0" marL="0">
              <a:buNone/>
            </a:pPr>
            <a:r>
              <a:rPr lang="en-US" sz="1300" b="1" dirty="0">
                <a:solidFill>
                  <a:srgbClr val="0F172A"/>
                </a:solidFill>
                <a:latin typeface="Segoe UI" pitchFamily="34" charset="0"/>
                <a:ea typeface="Segoe UI" pitchFamily="34" charset="-122"/>
                <a:cs typeface="Segoe UI" pitchFamily="34" charset="-120"/>
              </a:rPr>
              <a:t>IndiaMART &amp; Opaque Directories</a:t>
            </a:r>
            <a:endParaRPr lang="en-US" sz="1300" dirty="0"/>
          </a:p>
        </p:txBody>
      </p:sp>
      <p:sp>
        <p:nvSpPr>
          <p:cNvPr id="10" name="Shape 8"/>
          <p:cNvSpPr/>
          <p:nvPr/>
        </p:nvSpPr>
        <p:spPr>
          <a:xfrm>
            <a:off x="1005840" y="3383280"/>
            <a:ext cx="2834640" cy="274320"/>
          </a:xfrm>
          <a:prstGeom prst="roundRect">
            <a:avLst>
              <a:gd name="adj" fmla="val 33333"/>
            </a:avLst>
          </a:prstGeom>
          <a:solidFill>
            <a:srgbClr val="F1F5F9"/>
          </a:solidFill>
          <a:ln w="12700">
            <a:solidFill>
              <a:srgbClr val="CBD5E1"/>
            </a:solidFill>
            <a:prstDash val="solid"/>
          </a:ln>
        </p:spPr>
      </p:sp>
      <p:sp>
        <p:nvSpPr>
          <p:cNvPr id="11" name="Text 9"/>
          <p:cNvSpPr/>
          <p:nvPr/>
        </p:nvSpPr>
        <p:spPr>
          <a:xfrm>
            <a:off x="1005840" y="3383280"/>
            <a:ext cx="2834640" cy="274320"/>
          </a:xfrm>
          <a:prstGeom prst="rect">
            <a:avLst/>
          </a:prstGeom>
          <a:noFill/>
          <a:ln/>
        </p:spPr>
        <p:txBody>
          <a:bodyPr wrap="square" rtlCol="0" anchor="ctr"/>
          <a:lstStyle/>
          <a:p>
            <a:pPr algn="ctr" indent="0" marL="0">
              <a:buNone/>
            </a:pPr>
            <a:r>
              <a:rPr lang="en-US" sz="900" b="1" dirty="0">
                <a:solidFill>
                  <a:srgbClr val="475569"/>
                </a:solidFill>
                <a:latin typeface="Segoe UI" pitchFamily="34" charset="0"/>
                <a:ea typeface="Segoe UI" pitchFamily="34" charset="-122"/>
                <a:cs typeface="Segoe UI" pitchFamily="34" charset="-120"/>
              </a:rPr>
              <a:t>₹1,569 Cr Rev · 220K Paid Suppliers</a:t>
            </a:r>
            <a:endParaRPr lang="en-US" sz="900" dirty="0"/>
          </a:p>
        </p:txBody>
      </p:sp>
      <p:sp>
        <p:nvSpPr>
          <p:cNvPr id="12" name="Text 10"/>
          <p:cNvSpPr/>
          <p:nvPr/>
        </p:nvSpPr>
        <p:spPr>
          <a:xfrm>
            <a:off x="1005840" y="3794760"/>
            <a:ext cx="2834640" cy="2103120"/>
          </a:xfrm>
          <a:prstGeom prst="rect">
            <a:avLst/>
          </a:prstGeom>
          <a:noFill/>
          <a:ln/>
        </p:spPr>
        <p:txBody>
          <a:bodyPr wrap="square" rtlCol="0" anchor="t"/>
          <a:lstStyle/>
          <a:p>
            <a:pPr marL="342900" indent="-342900">
              <a:buSzPct val="100000"/>
              <a:buChar char="•"/>
            </a:pPr>
            <a:r>
              <a:rPr lang="en-US" sz="1000" dirty="0">
                <a:solidFill>
                  <a:srgbClr val="475569"/>
                </a:solidFill>
                <a:latin typeface="Segoe UI" pitchFamily="34" charset="0"/>
                <a:ea typeface="Segoe UI" pitchFamily="34" charset="-122"/>
                <a:cs typeface="Segoe UI" pitchFamily="34" charset="-120"/>
              </a:rPr>
              <a:t>Zero factory ground-truth verification
</a:t>
            </a:r>
            <a:endParaRPr lang="en-US" sz="1000" dirty="0"/>
          </a:p>
          <a:p>
            <a:pPr marL="342900" indent="-342900">
              <a:buSzPct val="100000"/>
              <a:buChar char="•"/>
            </a:pPr>
            <a:r>
              <a:rPr lang="en-US" sz="1000" dirty="0">
                <a:solidFill>
                  <a:srgbClr val="475569"/>
                </a:solidFill>
                <a:latin typeface="Segoe UI" pitchFamily="34" charset="0"/>
                <a:ea typeface="Segoe UI" pitchFamily="34" charset="-122"/>
                <a:cs typeface="Segoe UI" pitchFamily="34" charset="-120"/>
              </a:rPr>
              <a:t>Revenue comes from listing volume, not quality
</a:t>
            </a:r>
            <a:endParaRPr lang="en-US" sz="1000" dirty="0"/>
          </a:p>
          <a:p>
            <a:pPr marL="342900" indent="-342900">
              <a:buSzPct val="100000"/>
              <a:buChar char="•"/>
            </a:pPr>
            <a:r>
              <a:rPr lang="en-US" sz="1000" dirty="0">
                <a:solidFill>
                  <a:srgbClr val="475569"/>
                </a:solidFill>
                <a:latin typeface="Segoe UI" pitchFamily="34" charset="0"/>
                <a:ea typeface="Segoe UI" pitchFamily="34" charset="-122"/>
                <a:cs typeface="Segoe UI" pitchFamily="34" charset="-120"/>
              </a:rPr>
              <a:t>Buyers flooded with 40+ spam broker calls per RFQ
</a:t>
            </a:r>
            <a:endParaRPr lang="en-US" sz="1000" dirty="0"/>
          </a:p>
          <a:p>
            <a:pPr marL="342900" indent="-342900">
              <a:buSzPct val="100000"/>
              <a:buChar char="•"/>
            </a:pPr>
            <a:r>
              <a:rPr lang="en-US" sz="1000" dirty="0">
                <a:solidFill>
                  <a:srgbClr val="475569"/>
                </a:solidFill>
                <a:latin typeface="Segoe UI" pitchFamily="34" charset="0"/>
                <a:ea typeface="Segoe UI" pitchFamily="34" charset="-122"/>
                <a:cs typeface="Segoe UI" pitchFamily="34" charset="-120"/>
              </a:rPr>
              <a:t>Genuine manufacturers drown in SEO bidding wars
</a:t>
            </a:r>
            <a:endParaRPr lang="en-US" sz="1000" dirty="0"/>
          </a:p>
        </p:txBody>
      </p:sp>
      <p:sp>
        <p:nvSpPr>
          <p:cNvPr id="13" name="Shape 11"/>
          <p:cNvSpPr/>
          <p:nvPr/>
        </p:nvSpPr>
        <p:spPr>
          <a:xfrm>
            <a:off x="4389120" y="2743200"/>
            <a:ext cx="3383280" cy="3291840"/>
          </a:xfrm>
          <a:prstGeom prst="roundRect">
            <a:avLst>
              <a:gd name="adj" fmla="val 4167"/>
            </a:avLst>
          </a:prstGeom>
          <a:solidFill>
            <a:srgbClr val="FFFFFF"/>
          </a:solidFill>
          <a:ln w="19050">
            <a:solidFill>
              <a:srgbClr val="E2E8F0"/>
            </a:solidFill>
            <a:prstDash val="solid"/>
          </a:ln>
        </p:spPr>
      </p:sp>
      <p:sp>
        <p:nvSpPr>
          <p:cNvPr id="14" name="Text 12"/>
          <p:cNvSpPr/>
          <p:nvPr/>
        </p:nvSpPr>
        <p:spPr>
          <a:xfrm>
            <a:off x="4663440" y="2926080"/>
            <a:ext cx="2834640" cy="411480"/>
          </a:xfrm>
          <a:prstGeom prst="rect">
            <a:avLst/>
          </a:prstGeom>
          <a:noFill/>
          <a:ln/>
        </p:spPr>
        <p:txBody>
          <a:bodyPr wrap="square" rtlCol="0" anchor="t"/>
          <a:lstStyle/>
          <a:p>
            <a:pPr indent="0" marL="0">
              <a:buNone/>
            </a:pPr>
            <a:r>
              <a:rPr lang="en-US" sz="1300" b="1" dirty="0">
                <a:solidFill>
                  <a:srgbClr val="0F172A"/>
                </a:solidFill>
                <a:latin typeface="Segoe UI" pitchFamily="34" charset="0"/>
                <a:ea typeface="Segoe UI" pitchFamily="34" charset="-122"/>
                <a:cs typeface="Segoe UI" pitchFamily="34" charset="-120"/>
              </a:rPr>
              <a:t>Alibaba Gold Supplier</a:t>
            </a:r>
            <a:endParaRPr lang="en-US" sz="1300" dirty="0"/>
          </a:p>
        </p:txBody>
      </p:sp>
      <p:sp>
        <p:nvSpPr>
          <p:cNvPr id="15" name="Shape 13"/>
          <p:cNvSpPr/>
          <p:nvPr/>
        </p:nvSpPr>
        <p:spPr>
          <a:xfrm>
            <a:off x="4663440" y="3383280"/>
            <a:ext cx="2834640" cy="274320"/>
          </a:xfrm>
          <a:prstGeom prst="roundRect">
            <a:avLst>
              <a:gd name="adj" fmla="val 33333"/>
            </a:avLst>
          </a:prstGeom>
          <a:solidFill>
            <a:srgbClr val="F1F5F9"/>
          </a:solidFill>
          <a:ln w="12700">
            <a:solidFill>
              <a:srgbClr val="CBD5E1"/>
            </a:solidFill>
            <a:prstDash val="solid"/>
          </a:ln>
        </p:spPr>
      </p:sp>
      <p:sp>
        <p:nvSpPr>
          <p:cNvPr id="16" name="Text 14"/>
          <p:cNvSpPr/>
          <p:nvPr/>
        </p:nvSpPr>
        <p:spPr>
          <a:xfrm>
            <a:off x="4663440" y="3383280"/>
            <a:ext cx="2834640" cy="274320"/>
          </a:xfrm>
          <a:prstGeom prst="rect">
            <a:avLst/>
          </a:prstGeom>
          <a:noFill/>
          <a:ln/>
        </p:spPr>
        <p:txBody>
          <a:bodyPr wrap="square" rtlCol="0" anchor="ctr"/>
          <a:lstStyle/>
          <a:p>
            <a:pPr algn="ctr" indent="0" marL="0">
              <a:buNone/>
            </a:pPr>
            <a:r>
              <a:rPr lang="en-US" sz="900" b="1" dirty="0">
                <a:solidFill>
                  <a:srgbClr val="475569"/>
                </a:solidFill>
                <a:latin typeface="Segoe UI" pitchFamily="34" charset="0"/>
                <a:ea typeface="Segoe UI" pitchFamily="34" charset="-122"/>
                <a:cs typeface="Segoe UI" pitchFamily="34" charset="-120"/>
              </a:rPr>
              <a:t>Paid Badging Model ($2K–$6K/yr)</a:t>
            </a:r>
            <a:endParaRPr lang="en-US" sz="900" dirty="0"/>
          </a:p>
        </p:txBody>
      </p:sp>
      <p:sp>
        <p:nvSpPr>
          <p:cNvPr id="17" name="Text 15"/>
          <p:cNvSpPr/>
          <p:nvPr/>
        </p:nvSpPr>
        <p:spPr>
          <a:xfrm>
            <a:off x="4663440" y="3794760"/>
            <a:ext cx="2834640" cy="2103120"/>
          </a:xfrm>
          <a:prstGeom prst="rect">
            <a:avLst/>
          </a:prstGeom>
          <a:noFill/>
          <a:ln/>
        </p:spPr>
        <p:txBody>
          <a:bodyPr wrap="square" rtlCol="0" anchor="t"/>
          <a:lstStyle/>
          <a:p>
            <a:pPr marL="342900" indent="-342900">
              <a:buSzPct val="100000"/>
              <a:buChar char="•"/>
            </a:pPr>
            <a:r>
              <a:rPr lang="en-US" sz="1000" dirty="0">
                <a:solidFill>
                  <a:srgbClr val="475569"/>
                </a:solidFill>
                <a:latin typeface="Segoe UI" pitchFamily="34" charset="0"/>
                <a:ea typeface="Segoe UI" pitchFamily="34" charset="-122"/>
                <a:cs typeface="Segoe UI" pitchFamily="34" charset="-120"/>
              </a:rPr>
              <a:t>Badges can be purchased without factory audit
</a:t>
            </a:r>
            <a:endParaRPr lang="en-US" sz="1000" dirty="0"/>
          </a:p>
          <a:p>
            <a:pPr marL="342900" indent="-342900">
              <a:buSzPct val="100000"/>
              <a:buChar char="•"/>
            </a:pPr>
            <a:r>
              <a:rPr lang="en-US" sz="1000" dirty="0">
                <a:solidFill>
                  <a:srgbClr val="475569"/>
                </a:solidFill>
                <a:latin typeface="Segoe UI" pitchFamily="34" charset="0"/>
                <a:ea typeface="Segoe UI" pitchFamily="34" charset="-122"/>
                <a:cs typeface="Segoe UI" pitchFamily="34" charset="-120"/>
              </a:rPr>
              <a:t>Called "false sense of security" by global procurement
</a:t>
            </a:r>
            <a:endParaRPr lang="en-US" sz="1000" dirty="0"/>
          </a:p>
          <a:p>
            <a:pPr marL="342900" indent="-342900">
              <a:buSzPct val="100000"/>
              <a:buChar char="•"/>
            </a:pPr>
            <a:r>
              <a:rPr lang="en-US" sz="1000" dirty="0">
                <a:solidFill>
                  <a:srgbClr val="475569"/>
                </a:solidFill>
                <a:latin typeface="Segoe UI" pitchFamily="34" charset="0"/>
                <a:ea typeface="Segoe UI" pitchFamily="34" charset="-122"/>
                <a:cs typeface="Segoe UI" pitchFamily="34" charset="-120"/>
              </a:rPr>
              <a:t>China-centric; virtually zero Indian MSME coverage
</a:t>
            </a:r>
            <a:endParaRPr lang="en-US" sz="1000" dirty="0"/>
          </a:p>
          <a:p>
            <a:pPr marL="342900" indent="-342900">
              <a:buSzPct val="100000"/>
              <a:buChar char="•"/>
            </a:pPr>
            <a:r>
              <a:rPr lang="en-US" sz="1000" dirty="0">
                <a:solidFill>
                  <a:srgbClr val="475569"/>
                </a:solidFill>
                <a:latin typeface="Segoe UI" pitchFamily="34" charset="0"/>
                <a:ea typeface="Segoe UI" pitchFamily="34" charset="-122"/>
                <a:cs typeface="Segoe UI" pitchFamily="34" charset="-120"/>
              </a:rPr>
              <a:t>No continuous verification or data freshness tracking
</a:t>
            </a:r>
            <a:endParaRPr lang="en-US" sz="1000" dirty="0"/>
          </a:p>
        </p:txBody>
      </p:sp>
      <p:sp>
        <p:nvSpPr>
          <p:cNvPr id="18" name="Shape 16"/>
          <p:cNvSpPr/>
          <p:nvPr/>
        </p:nvSpPr>
        <p:spPr>
          <a:xfrm>
            <a:off x="8046720" y="2743200"/>
            <a:ext cx="3383280" cy="3291840"/>
          </a:xfrm>
          <a:prstGeom prst="roundRect">
            <a:avLst>
              <a:gd name="adj" fmla="val 4167"/>
            </a:avLst>
          </a:prstGeom>
          <a:solidFill>
            <a:srgbClr val="FFFFFF"/>
          </a:solidFill>
          <a:ln w="19050">
            <a:solidFill>
              <a:srgbClr val="E2E8F0"/>
            </a:solidFill>
            <a:prstDash val="solid"/>
          </a:ln>
        </p:spPr>
      </p:sp>
      <p:sp>
        <p:nvSpPr>
          <p:cNvPr id="19" name="Text 17"/>
          <p:cNvSpPr/>
          <p:nvPr/>
        </p:nvSpPr>
        <p:spPr>
          <a:xfrm>
            <a:off x="8321040" y="2926080"/>
            <a:ext cx="2834640" cy="411480"/>
          </a:xfrm>
          <a:prstGeom prst="rect">
            <a:avLst/>
          </a:prstGeom>
          <a:noFill/>
          <a:ln/>
        </p:spPr>
        <p:txBody>
          <a:bodyPr wrap="square" rtlCol="0" anchor="t"/>
          <a:lstStyle/>
          <a:p>
            <a:pPr indent="0" marL="0">
              <a:buNone/>
            </a:pPr>
            <a:r>
              <a:rPr lang="en-US" sz="1300" b="1" dirty="0">
                <a:solidFill>
                  <a:srgbClr val="0F172A"/>
                </a:solidFill>
                <a:latin typeface="Segoe UI" pitchFamily="34" charset="0"/>
                <a:ea typeface="Segoe UI" pitchFamily="34" charset="-122"/>
                <a:cs typeface="Segoe UI" pitchFamily="34" charset="-120"/>
              </a:rPr>
              <a:t>SGS / TÜV / Physical Audits</a:t>
            </a:r>
            <a:endParaRPr lang="en-US" sz="1300" dirty="0"/>
          </a:p>
        </p:txBody>
      </p:sp>
      <p:sp>
        <p:nvSpPr>
          <p:cNvPr id="20" name="Shape 18"/>
          <p:cNvSpPr/>
          <p:nvPr/>
        </p:nvSpPr>
        <p:spPr>
          <a:xfrm>
            <a:off x="8321040" y="3383280"/>
            <a:ext cx="2834640" cy="274320"/>
          </a:xfrm>
          <a:prstGeom prst="roundRect">
            <a:avLst>
              <a:gd name="adj" fmla="val 33333"/>
            </a:avLst>
          </a:prstGeom>
          <a:solidFill>
            <a:srgbClr val="F1F5F9"/>
          </a:solidFill>
          <a:ln w="12700">
            <a:solidFill>
              <a:srgbClr val="CBD5E1"/>
            </a:solidFill>
            <a:prstDash val="solid"/>
          </a:ln>
        </p:spPr>
      </p:sp>
      <p:sp>
        <p:nvSpPr>
          <p:cNvPr id="21" name="Text 19"/>
          <p:cNvSpPr/>
          <p:nvPr/>
        </p:nvSpPr>
        <p:spPr>
          <a:xfrm>
            <a:off x="8321040" y="3383280"/>
            <a:ext cx="2834640" cy="274320"/>
          </a:xfrm>
          <a:prstGeom prst="rect">
            <a:avLst/>
          </a:prstGeom>
          <a:noFill/>
          <a:ln/>
        </p:spPr>
        <p:txBody>
          <a:bodyPr wrap="square" rtlCol="0" anchor="ctr"/>
          <a:lstStyle/>
          <a:p>
            <a:pPr algn="ctr" indent="0" marL="0">
              <a:buNone/>
            </a:pPr>
            <a:r>
              <a:rPr lang="en-US" sz="900" b="1" dirty="0">
                <a:solidFill>
                  <a:srgbClr val="475569"/>
                </a:solidFill>
                <a:latin typeface="Segoe UI" pitchFamily="34" charset="0"/>
                <a:ea typeface="Segoe UI" pitchFamily="34" charset="-122"/>
                <a:cs typeface="Segoe UI" pitchFamily="34" charset="-120"/>
              </a:rPr>
              <a:t>$2,000–$5,000 Per Factory Audit</a:t>
            </a:r>
            <a:endParaRPr lang="en-US" sz="900" dirty="0"/>
          </a:p>
        </p:txBody>
      </p:sp>
      <p:sp>
        <p:nvSpPr>
          <p:cNvPr id="22" name="Text 20"/>
          <p:cNvSpPr/>
          <p:nvPr/>
        </p:nvSpPr>
        <p:spPr>
          <a:xfrm>
            <a:off x="8321040" y="3794760"/>
            <a:ext cx="2834640" cy="2103120"/>
          </a:xfrm>
          <a:prstGeom prst="rect">
            <a:avLst/>
          </a:prstGeom>
          <a:noFill/>
          <a:ln/>
        </p:spPr>
        <p:txBody>
          <a:bodyPr wrap="square" rtlCol="0" anchor="t"/>
          <a:lstStyle/>
          <a:p>
            <a:pPr marL="342900" indent="-342900">
              <a:buSzPct val="100000"/>
              <a:buChar char="•"/>
            </a:pPr>
            <a:r>
              <a:rPr lang="en-US" sz="1000" dirty="0">
                <a:solidFill>
                  <a:srgbClr val="475569"/>
                </a:solidFill>
                <a:latin typeface="Segoe UI" pitchFamily="34" charset="0"/>
                <a:ea typeface="Segoe UI" pitchFamily="34" charset="-122"/>
                <a:cs typeface="Segoe UI" pitchFamily="34" charset="-120"/>
              </a:rPr>
              <a:t>Gold standard, but cost-prohibitive for 99% of MSMEs
</a:t>
            </a:r>
            <a:endParaRPr lang="en-US" sz="1000" dirty="0"/>
          </a:p>
          <a:p>
            <a:pPr marL="342900" indent="-342900">
              <a:buSzPct val="100000"/>
              <a:buChar char="•"/>
            </a:pPr>
            <a:r>
              <a:rPr lang="en-US" sz="1000" dirty="0">
                <a:solidFill>
                  <a:srgbClr val="475569"/>
                </a:solidFill>
                <a:latin typeface="Segoe UI" pitchFamily="34" charset="0"/>
                <a:ea typeface="Segoe UI" pitchFamily="34" charset="-122"/>
                <a:cs typeface="Segoe UI" pitchFamily="34" charset="-120"/>
              </a:rPr>
              <a:t>One-time static snapshot; decays within 6 months
</a:t>
            </a:r>
            <a:endParaRPr lang="en-US" sz="1000" dirty="0"/>
          </a:p>
          <a:p>
            <a:pPr marL="342900" indent="-342900">
              <a:buSzPct val="100000"/>
              <a:buChar char="•"/>
            </a:pPr>
            <a:r>
              <a:rPr lang="en-US" sz="1000" dirty="0">
                <a:solidFill>
                  <a:srgbClr val="475569"/>
                </a:solidFill>
                <a:latin typeface="Segoe UI" pitchFamily="34" charset="0"/>
                <a:ea typeface="Segoe UI" pitchFamily="34" charset="-122"/>
                <a:cs typeface="Segoe UI" pitchFamily="34" charset="-120"/>
              </a:rPr>
              <a:t>Takes 4–6 weeks per report; impossible to scale
</a:t>
            </a:r>
            <a:endParaRPr lang="en-US" sz="1000" dirty="0"/>
          </a:p>
          <a:p>
            <a:pPr marL="342900" indent="-342900">
              <a:buSzPct val="100000"/>
              <a:buChar char="•"/>
            </a:pPr>
            <a:r>
              <a:rPr lang="en-US" sz="1000" dirty="0">
                <a:solidFill>
                  <a:srgbClr val="475569"/>
                </a:solidFill>
                <a:latin typeface="Segoe UI" pitchFamily="34" charset="0"/>
                <a:ea typeface="Segoe UI" pitchFamily="34" charset="-122"/>
                <a:cs typeface="Segoe UI" pitchFamily="34" charset="-120"/>
              </a:rPr>
              <a:t>Not integrated into any AI discovery or matching workflow
</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65760"/>
            <a:ext cx="2286000" cy="320040"/>
          </a:xfrm>
          <a:prstGeom prst="roundRect">
            <a:avLst>
              <a:gd name="adj" fmla="val 42857"/>
            </a:avLst>
          </a:prstGeom>
          <a:solidFill>
            <a:srgbClr val="FFF7ED"/>
          </a:solidFill>
          <a:ln w="12700">
            <a:solidFill>
              <a:srgbClr val="EA580C"/>
            </a:solidFill>
            <a:prstDash val="solid"/>
          </a:ln>
        </p:spPr>
      </p:sp>
      <p:sp>
        <p:nvSpPr>
          <p:cNvPr id="3" name="Text 1"/>
          <p:cNvSpPr/>
          <p:nvPr/>
        </p:nvSpPr>
        <p:spPr>
          <a:xfrm>
            <a:off x="731520" y="365760"/>
            <a:ext cx="2286000" cy="320040"/>
          </a:xfrm>
          <a:prstGeom prst="rect">
            <a:avLst/>
          </a:prstGeom>
          <a:noFill/>
          <a:ln/>
        </p:spPr>
        <p:txBody>
          <a:bodyPr wrap="square" rtlCol="0" anchor="ctr"/>
          <a:lstStyle/>
          <a:p>
            <a:pPr algn="ctr" indent="0" marL="0">
              <a:buNone/>
            </a:pPr>
            <a:r>
              <a:rPr lang="en-US" sz="1000" b="1" dirty="0">
                <a:solidFill>
                  <a:srgbClr val="C2410C"/>
                </a:solidFill>
                <a:latin typeface="Segoe UI" pitchFamily="34" charset="0"/>
                <a:ea typeface="Segoe UI" pitchFamily="34" charset="-122"/>
                <a:cs typeface="Segoe UI" pitchFamily="34" charset="-120"/>
              </a:rPr>
              <a:t>MACRO TAILWINDS</a:t>
            </a:r>
            <a:endParaRPr lang="en-US" sz="1000" dirty="0"/>
          </a:p>
        </p:txBody>
      </p:sp>
      <p:sp>
        <p:nvSpPr>
          <p:cNvPr id="4" name="Text 2"/>
          <p:cNvSpPr/>
          <p:nvPr/>
        </p:nvSpPr>
        <p:spPr>
          <a:xfrm>
            <a:off x="731520" y="731520"/>
            <a:ext cx="10515600" cy="502920"/>
          </a:xfrm>
          <a:prstGeom prst="rect">
            <a:avLst/>
          </a:prstGeom>
          <a:noFill/>
          <a:ln/>
        </p:spPr>
        <p:txBody>
          <a:bodyPr wrap="square" rtlCol="0" anchor="ctr"/>
          <a:lstStyle/>
          <a:p>
            <a:pPr indent="0" marL="0">
              <a:buNone/>
            </a:pPr>
            <a:r>
              <a:rPr lang="en-US" sz="2200" b="1" dirty="0">
                <a:solidFill>
                  <a:srgbClr val="0F172A"/>
                </a:solidFill>
                <a:latin typeface="Segoe UI" pitchFamily="34" charset="0"/>
                <a:ea typeface="Segoe UI" pitchFamily="34" charset="-122"/>
                <a:cs typeface="Segoe UI" pitchFamily="34" charset="-120"/>
              </a:rPr>
              <a:t>Why Now: Three Powerful Forces Converging</a:t>
            </a:r>
            <a:endParaRPr lang="en-US" sz="2200" dirty="0"/>
          </a:p>
        </p:txBody>
      </p:sp>
      <p:sp>
        <p:nvSpPr>
          <p:cNvPr id="5" name="Text 3"/>
          <p:cNvSpPr/>
          <p:nvPr/>
        </p:nvSpPr>
        <p:spPr>
          <a:xfrm>
            <a:off x="731520" y="1234440"/>
            <a:ext cx="10515600" cy="320040"/>
          </a:xfrm>
          <a:prstGeom prst="rect">
            <a:avLst/>
          </a:prstGeom>
          <a:noFill/>
          <a:ln/>
        </p:spPr>
        <p:txBody>
          <a:bodyPr wrap="square" rtlCol="0" anchor="ctr"/>
          <a:lstStyle/>
          <a:p>
            <a:pPr indent="0" marL="0">
              <a:buNone/>
            </a:pPr>
            <a:r>
              <a:rPr lang="en-US" sz="1200" dirty="0">
                <a:solidFill>
                  <a:srgbClr val="475569"/>
                </a:solidFill>
                <a:latin typeface="Segoe UI" pitchFamily="34" charset="0"/>
                <a:ea typeface="Segoe UI" pitchFamily="34" charset="-122"/>
                <a:cs typeface="Segoe UI" pitchFamily="34" charset="-120"/>
              </a:rPr>
              <a:t>Structural shifts in global supply chains make verified Indian manufacturing an urgent priority.</a:t>
            </a:r>
            <a:endParaRPr lang="en-US" sz="1200" dirty="0"/>
          </a:p>
        </p:txBody>
      </p:sp>
      <p:sp>
        <p:nvSpPr>
          <p:cNvPr id="6" name="Shape 4"/>
          <p:cNvSpPr/>
          <p:nvPr/>
        </p:nvSpPr>
        <p:spPr>
          <a:xfrm>
            <a:off x="731520" y="1645920"/>
            <a:ext cx="3383280" cy="4389120"/>
          </a:xfrm>
          <a:prstGeom prst="roundRect">
            <a:avLst>
              <a:gd name="adj" fmla="val 4054"/>
            </a:avLst>
          </a:prstGeom>
          <a:solidFill>
            <a:srgbClr val="FFFFFF"/>
          </a:solidFill>
          <a:ln w="19050">
            <a:solidFill>
              <a:srgbClr val="E2E8F0"/>
            </a:solidFill>
            <a:prstDash val="solid"/>
          </a:ln>
        </p:spPr>
      </p:sp>
      <p:sp>
        <p:nvSpPr>
          <p:cNvPr id="7" name="Text 5"/>
          <p:cNvSpPr/>
          <p:nvPr/>
        </p:nvSpPr>
        <p:spPr>
          <a:xfrm>
            <a:off x="1005840" y="1828800"/>
            <a:ext cx="731520" cy="365760"/>
          </a:xfrm>
          <a:prstGeom prst="rect">
            <a:avLst/>
          </a:prstGeom>
          <a:noFill/>
          <a:ln/>
        </p:spPr>
        <p:txBody>
          <a:bodyPr wrap="square" rtlCol="0" anchor="ctr"/>
          <a:lstStyle/>
          <a:p>
            <a:pPr indent="0" marL="0">
              <a:buNone/>
            </a:pPr>
            <a:r>
              <a:rPr lang="en-US" sz="1600" b="1" dirty="0">
                <a:solidFill>
                  <a:srgbClr val="2563EB"/>
                </a:solidFill>
                <a:latin typeface="Segoe UI" pitchFamily="34" charset="0"/>
                <a:ea typeface="Segoe UI" pitchFamily="34" charset="-122"/>
                <a:cs typeface="Segoe UI" pitchFamily="34" charset="-120"/>
              </a:rPr>
              <a:t>01</a:t>
            </a:r>
            <a:endParaRPr lang="en-US" sz="1600" dirty="0"/>
          </a:p>
        </p:txBody>
      </p:sp>
      <p:sp>
        <p:nvSpPr>
          <p:cNvPr id="8" name="Text 6"/>
          <p:cNvSpPr/>
          <p:nvPr/>
        </p:nvSpPr>
        <p:spPr>
          <a:xfrm>
            <a:off x="1005840" y="2194560"/>
            <a:ext cx="2834640" cy="548640"/>
          </a:xfrm>
          <a:prstGeom prst="rect">
            <a:avLst/>
          </a:prstGeom>
          <a:noFill/>
          <a:ln/>
        </p:spPr>
        <p:txBody>
          <a:bodyPr wrap="square" rtlCol="0" anchor="t"/>
          <a:lstStyle/>
          <a:p>
            <a:pPr indent="0" marL="0">
              <a:buNone/>
            </a:pPr>
            <a:r>
              <a:rPr lang="en-US" sz="1300" b="1" dirty="0">
                <a:solidFill>
                  <a:srgbClr val="0F172A"/>
                </a:solidFill>
                <a:latin typeface="Segoe UI" pitchFamily="34" charset="0"/>
                <a:ea typeface="Segoe UI" pitchFamily="34" charset="-122"/>
                <a:cs typeface="Segoe UI" pitchFamily="34" charset="-120"/>
              </a:rPr>
              <a:t>China+1 Is Operational Reality</a:t>
            </a:r>
            <a:endParaRPr lang="en-US" sz="1300" dirty="0"/>
          </a:p>
        </p:txBody>
      </p:sp>
      <p:sp>
        <p:nvSpPr>
          <p:cNvPr id="9" name="Shape 7"/>
          <p:cNvSpPr/>
          <p:nvPr/>
        </p:nvSpPr>
        <p:spPr>
          <a:xfrm>
            <a:off x="1005840" y="2788920"/>
            <a:ext cx="2834640" cy="685800"/>
          </a:xfrm>
          <a:prstGeom prst="roundRect">
            <a:avLst>
              <a:gd name="adj" fmla="val 13333"/>
            </a:avLst>
          </a:prstGeom>
          <a:solidFill>
            <a:srgbClr val="EFF6FF"/>
          </a:solidFill>
          <a:ln w="12700">
            <a:solidFill>
              <a:srgbClr val="2563EB"/>
            </a:solidFill>
            <a:prstDash val="solid"/>
          </a:ln>
        </p:spPr>
      </p:sp>
      <p:sp>
        <p:nvSpPr>
          <p:cNvPr id="10" name="Text 8"/>
          <p:cNvSpPr/>
          <p:nvPr/>
        </p:nvSpPr>
        <p:spPr>
          <a:xfrm>
            <a:off x="1005840" y="2834640"/>
            <a:ext cx="2834640" cy="347472"/>
          </a:xfrm>
          <a:prstGeom prst="rect">
            <a:avLst/>
          </a:prstGeom>
          <a:noFill/>
          <a:ln/>
        </p:spPr>
        <p:txBody>
          <a:bodyPr wrap="square" rtlCol="0" anchor="ctr"/>
          <a:lstStyle/>
          <a:p>
            <a:pPr algn="ctr" indent="0" marL="0">
              <a:buNone/>
            </a:pPr>
            <a:r>
              <a:rPr lang="en-US" sz="1300" b="1" dirty="0">
                <a:solidFill>
                  <a:srgbClr val="2563EB"/>
                </a:solidFill>
                <a:latin typeface="Segoe UI" pitchFamily="34" charset="0"/>
                <a:ea typeface="Segoe UI" pitchFamily="34" charset="-122"/>
                <a:cs typeface="Segoe UI" pitchFamily="34" charset="-120"/>
              </a:rPr>
              <a:t>$81.04 Billion FDI</a:t>
            </a:r>
            <a:endParaRPr lang="en-US" sz="1300" dirty="0"/>
          </a:p>
        </p:txBody>
      </p:sp>
      <p:sp>
        <p:nvSpPr>
          <p:cNvPr id="11" name="Text 9"/>
          <p:cNvSpPr/>
          <p:nvPr/>
        </p:nvSpPr>
        <p:spPr>
          <a:xfrm>
            <a:off x="1005840" y="3182112"/>
            <a:ext cx="2834640" cy="256032"/>
          </a:xfrm>
          <a:prstGeom prst="rect">
            <a:avLst/>
          </a:prstGeom>
          <a:noFill/>
          <a:ln/>
        </p:spPr>
        <p:txBody>
          <a:bodyPr wrap="square" rtlCol="0" anchor="t"/>
          <a:lstStyle/>
          <a:p>
            <a:pPr algn="ctr" indent="0" marL="0">
              <a:buNone/>
            </a:pPr>
            <a:r>
              <a:rPr lang="en-US" sz="850" dirty="0">
                <a:solidFill>
                  <a:srgbClr val="475569"/>
                </a:solidFill>
                <a:latin typeface="Segoe UI" pitchFamily="34" charset="0"/>
                <a:ea typeface="Segoe UI" pitchFamily="34" charset="-122"/>
                <a:cs typeface="Segoe UI" pitchFamily="34" charset="-120"/>
              </a:rPr>
              <a:t>+14% YoY in FY25 · Mfg FDI: $19.04B (+18%)</a:t>
            </a:r>
            <a:endParaRPr lang="en-US" sz="850" dirty="0"/>
          </a:p>
        </p:txBody>
      </p:sp>
      <p:sp>
        <p:nvSpPr>
          <p:cNvPr id="12" name="Text 10"/>
          <p:cNvSpPr/>
          <p:nvPr/>
        </p:nvSpPr>
        <p:spPr>
          <a:xfrm>
            <a:off x="1005840" y="3611880"/>
            <a:ext cx="2834640" cy="2286000"/>
          </a:xfrm>
          <a:prstGeom prst="rect">
            <a:avLst/>
          </a:prstGeom>
          <a:noFill/>
          <a:ln/>
        </p:spPr>
        <p:txBody>
          <a:bodyPr wrap="square" rtlCol="0" anchor="t"/>
          <a:lstStyle/>
          <a:p>
            <a:pPr marL="342900" indent="-342900">
              <a:buSzPct val="100000"/>
              <a:buChar char="•"/>
            </a:pPr>
            <a:r>
              <a:rPr lang="en-US" sz="1000" dirty="0">
                <a:solidFill>
                  <a:srgbClr val="475569"/>
                </a:solidFill>
                <a:latin typeface="Segoe UI" pitchFamily="34" charset="0"/>
                <a:ea typeface="Segoe UI" pitchFamily="34" charset="-122"/>
                <a:cs typeface="Segoe UI" pitchFamily="34" charset="-120"/>
              </a:rPr>
              <a:t>Global procurement boards mandated supply chain de-risking
</a:t>
            </a:r>
            <a:endParaRPr lang="en-US" sz="1000" dirty="0"/>
          </a:p>
          <a:p>
            <a:pPr marL="342900" indent="-342900">
              <a:buSzPct val="100000"/>
              <a:buChar char="•"/>
            </a:pPr>
            <a:r>
              <a:rPr lang="en-US" sz="1000" dirty="0">
                <a:solidFill>
                  <a:srgbClr val="475569"/>
                </a:solidFill>
                <a:latin typeface="Segoe UI" pitchFamily="34" charset="0"/>
                <a:ea typeface="Segoe UI" pitchFamily="34" charset="-122"/>
                <a:cs typeface="Segoe UI" pitchFamily="34" charset="-120"/>
              </a:rPr>
              <a:t>India manufactures ~25% of global iPhones in 2025-26
</a:t>
            </a:r>
            <a:endParaRPr lang="en-US" sz="1000" dirty="0"/>
          </a:p>
          <a:p>
            <a:pPr marL="342900" indent="-342900">
              <a:buSzPct val="100000"/>
              <a:buChar char="•"/>
            </a:pPr>
            <a:r>
              <a:rPr lang="en-US" sz="1000" dirty="0">
                <a:solidFill>
                  <a:srgbClr val="475569"/>
                </a:solidFill>
                <a:latin typeface="Segoe UI" pitchFamily="34" charset="0"/>
                <a:ea typeface="Segoe UI" pitchFamily="34" charset="-122"/>
                <a:cs typeface="Segoe UI" pitchFamily="34" charset="-120"/>
              </a:rPr>
              <a:t>Buyers actively seeking direct Indian MSME alternatives
</a:t>
            </a:r>
            <a:endParaRPr lang="en-US" sz="1000" dirty="0"/>
          </a:p>
          <a:p>
            <a:pPr marL="342900" indent="-342900">
              <a:buSzPct val="100000"/>
              <a:buChar char="•"/>
            </a:pPr>
            <a:r>
              <a:rPr lang="en-US" sz="1000" dirty="0">
                <a:solidFill>
                  <a:srgbClr val="475569"/>
                </a:solidFill>
                <a:latin typeface="Segoe UI" pitchFamily="34" charset="0"/>
                <a:ea typeface="Segoe UI" pitchFamily="34" charset="-122"/>
                <a:cs typeface="Segoe UI" pitchFamily="34" charset="-120"/>
              </a:rPr>
              <a:t>Bottleneck is not factory capacity—it is trust verification
</a:t>
            </a:r>
            <a:endParaRPr lang="en-US" sz="1000" dirty="0"/>
          </a:p>
        </p:txBody>
      </p:sp>
      <p:sp>
        <p:nvSpPr>
          <p:cNvPr id="13" name="Shape 11"/>
          <p:cNvSpPr/>
          <p:nvPr/>
        </p:nvSpPr>
        <p:spPr>
          <a:xfrm>
            <a:off x="4389120" y="1645920"/>
            <a:ext cx="3383280" cy="4389120"/>
          </a:xfrm>
          <a:prstGeom prst="roundRect">
            <a:avLst>
              <a:gd name="adj" fmla="val 4054"/>
            </a:avLst>
          </a:prstGeom>
          <a:solidFill>
            <a:srgbClr val="FFFFFF"/>
          </a:solidFill>
          <a:ln w="19050">
            <a:solidFill>
              <a:srgbClr val="E2E8F0"/>
            </a:solidFill>
            <a:prstDash val="solid"/>
          </a:ln>
        </p:spPr>
      </p:sp>
      <p:sp>
        <p:nvSpPr>
          <p:cNvPr id="14" name="Text 12"/>
          <p:cNvSpPr/>
          <p:nvPr/>
        </p:nvSpPr>
        <p:spPr>
          <a:xfrm>
            <a:off x="4663440" y="1828800"/>
            <a:ext cx="731520" cy="365760"/>
          </a:xfrm>
          <a:prstGeom prst="rect">
            <a:avLst/>
          </a:prstGeom>
          <a:noFill/>
          <a:ln/>
        </p:spPr>
        <p:txBody>
          <a:bodyPr wrap="square" rtlCol="0" anchor="ctr"/>
          <a:lstStyle/>
          <a:p>
            <a:pPr indent="0" marL="0">
              <a:buNone/>
            </a:pPr>
            <a:r>
              <a:rPr lang="en-US" sz="1600" b="1" dirty="0">
                <a:solidFill>
                  <a:srgbClr val="EA580C"/>
                </a:solidFill>
                <a:latin typeface="Segoe UI" pitchFamily="34" charset="0"/>
                <a:ea typeface="Segoe UI" pitchFamily="34" charset="-122"/>
                <a:cs typeface="Segoe UI" pitchFamily="34" charset="-120"/>
              </a:rPr>
              <a:t>02</a:t>
            </a:r>
            <a:endParaRPr lang="en-US" sz="1600" dirty="0"/>
          </a:p>
        </p:txBody>
      </p:sp>
      <p:sp>
        <p:nvSpPr>
          <p:cNvPr id="15" name="Text 13"/>
          <p:cNvSpPr/>
          <p:nvPr/>
        </p:nvSpPr>
        <p:spPr>
          <a:xfrm>
            <a:off x="4663440" y="2194560"/>
            <a:ext cx="2834640" cy="548640"/>
          </a:xfrm>
          <a:prstGeom prst="rect">
            <a:avLst/>
          </a:prstGeom>
          <a:noFill/>
          <a:ln/>
        </p:spPr>
        <p:txBody>
          <a:bodyPr wrap="square" rtlCol="0" anchor="t"/>
          <a:lstStyle/>
          <a:p>
            <a:pPr indent="0" marL="0">
              <a:buNone/>
            </a:pPr>
            <a:r>
              <a:rPr lang="en-US" sz="1300" b="1" dirty="0">
                <a:solidFill>
                  <a:srgbClr val="0F172A"/>
                </a:solidFill>
                <a:latin typeface="Segoe UI" pitchFamily="34" charset="0"/>
                <a:ea typeface="Segoe UI" pitchFamily="34" charset="-122"/>
                <a:cs typeface="Segoe UI" pitchFamily="34" charset="-120"/>
              </a:rPr>
              <a:t>MSME Export Surge &amp; Policy Push</a:t>
            </a:r>
            <a:endParaRPr lang="en-US" sz="1300" dirty="0"/>
          </a:p>
        </p:txBody>
      </p:sp>
      <p:sp>
        <p:nvSpPr>
          <p:cNvPr id="16" name="Shape 14"/>
          <p:cNvSpPr/>
          <p:nvPr/>
        </p:nvSpPr>
        <p:spPr>
          <a:xfrm>
            <a:off x="4663440" y="2788920"/>
            <a:ext cx="2834640" cy="685800"/>
          </a:xfrm>
          <a:prstGeom prst="roundRect">
            <a:avLst>
              <a:gd name="adj" fmla="val 13333"/>
            </a:avLst>
          </a:prstGeom>
          <a:solidFill>
            <a:srgbClr val="FFF7ED"/>
          </a:solidFill>
          <a:ln w="12700">
            <a:solidFill>
              <a:srgbClr val="EA580C"/>
            </a:solidFill>
            <a:prstDash val="solid"/>
          </a:ln>
        </p:spPr>
      </p:sp>
      <p:sp>
        <p:nvSpPr>
          <p:cNvPr id="17" name="Text 15"/>
          <p:cNvSpPr/>
          <p:nvPr/>
        </p:nvSpPr>
        <p:spPr>
          <a:xfrm>
            <a:off x="4663440" y="2834640"/>
            <a:ext cx="2834640" cy="347472"/>
          </a:xfrm>
          <a:prstGeom prst="rect">
            <a:avLst/>
          </a:prstGeom>
          <a:noFill/>
          <a:ln/>
        </p:spPr>
        <p:txBody>
          <a:bodyPr wrap="square" rtlCol="0" anchor="ctr"/>
          <a:lstStyle/>
          <a:p>
            <a:pPr algn="ctr" indent="0" marL="0">
              <a:buNone/>
            </a:pPr>
            <a:r>
              <a:rPr lang="en-US" sz="1300" b="1" dirty="0">
                <a:solidFill>
                  <a:srgbClr val="EA580C"/>
                </a:solidFill>
                <a:latin typeface="Segoe UI" pitchFamily="34" charset="0"/>
                <a:ea typeface="Segoe UI" pitchFamily="34" charset="-122"/>
                <a:cs typeface="Segoe UI" pitchFamily="34" charset="-120"/>
              </a:rPr>
              <a:t>48.58% of Total Exports</a:t>
            </a:r>
            <a:endParaRPr lang="en-US" sz="1300" dirty="0"/>
          </a:p>
        </p:txBody>
      </p:sp>
      <p:sp>
        <p:nvSpPr>
          <p:cNvPr id="18" name="Text 16"/>
          <p:cNvSpPr/>
          <p:nvPr/>
        </p:nvSpPr>
        <p:spPr>
          <a:xfrm>
            <a:off x="4663440" y="3182112"/>
            <a:ext cx="2834640" cy="256032"/>
          </a:xfrm>
          <a:prstGeom prst="rect">
            <a:avLst/>
          </a:prstGeom>
          <a:noFill/>
          <a:ln/>
        </p:spPr>
        <p:txBody>
          <a:bodyPr wrap="square" rtlCol="0" anchor="t"/>
          <a:lstStyle/>
          <a:p>
            <a:pPr algn="ctr" indent="0" marL="0">
              <a:buNone/>
            </a:pPr>
            <a:r>
              <a:rPr lang="en-US" sz="850" dirty="0">
                <a:solidFill>
                  <a:srgbClr val="475569"/>
                </a:solidFill>
                <a:latin typeface="Segoe UI" pitchFamily="34" charset="0"/>
                <a:ea typeface="Segoe UI" pitchFamily="34" charset="-122"/>
                <a:cs typeface="Segoe UI" pitchFamily="34" charset="-120"/>
              </a:rPr>
              <a:t>₹9.52 Lakh Cr (H1 FY26) · 1,73,350 Active Exporters</a:t>
            </a:r>
            <a:endParaRPr lang="en-US" sz="850" dirty="0"/>
          </a:p>
        </p:txBody>
      </p:sp>
      <p:sp>
        <p:nvSpPr>
          <p:cNvPr id="19" name="Text 17"/>
          <p:cNvSpPr/>
          <p:nvPr/>
        </p:nvSpPr>
        <p:spPr>
          <a:xfrm>
            <a:off x="4663440" y="3611880"/>
            <a:ext cx="2834640" cy="2286000"/>
          </a:xfrm>
          <a:prstGeom prst="rect">
            <a:avLst/>
          </a:prstGeom>
          <a:noFill/>
          <a:ln/>
        </p:spPr>
        <p:txBody>
          <a:bodyPr wrap="square" rtlCol="0" anchor="t"/>
          <a:lstStyle/>
          <a:p>
            <a:pPr marL="342900" indent="-342900">
              <a:buSzPct val="100000"/>
              <a:buChar char="•"/>
            </a:pPr>
            <a:r>
              <a:rPr lang="en-US" sz="1000" dirty="0">
                <a:solidFill>
                  <a:srgbClr val="475569"/>
                </a:solidFill>
                <a:latin typeface="Segoe UI" pitchFamily="34" charset="0"/>
                <a:ea typeface="Segoe UI" pitchFamily="34" charset="-122"/>
                <a:cs typeface="Segoe UI" pitchFamily="34" charset="-120"/>
              </a:rPr>
              <a:t>8.7+ crore MSMEs registered on Udyam platform
</a:t>
            </a:r>
            <a:endParaRPr lang="en-US" sz="1000" dirty="0"/>
          </a:p>
          <a:p>
            <a:pPr marL="342900" indent="-342900">
              <a:buSzPct val="100000"/>
              <a:buChar char="•"/>
            </a:pPr>
            <a:r>
              <a:rPr lang="en-US" sz="1000" dirty="0">
                <a:solidFill>
                  <a:srgbClr val="475569"/>
                </a:solidFill>
                <a:latin typeface="Segoe UI" pitchFamily="34" charset="0"/>
                <a:ea typeface="Segoe UI" pitchFamily="34" charset="-122"/>
                <a:cs typeface="Segoe UI" pitchFamily="34" charset="-120"/>
              </a:rPr>
              <a:t>Govt launched ₹25,060 Cr Export Promotion Mission (FY26–31)
</a:t>
            </a:r>
            <a:endParaRPr lang="en-US" sz="1000" dirty="0"/>
          </a:p>
          <a:p>
            <a:pPr marL="342900" indent="-342900">
              <a:buSzPct val="100000"/>
              <a:buChar char="•"/>
            </a:pPr>
            <a:r>
              <a:rPr lang="en-US" sz="1000" dirty="0">
                <a:solidFill>
                  <a:srgbClr val="475569"/>
                </a:solidFill>
                <a:latin typeface="Segoe UI" pitchFamily="34" charset="0"/>
                <a:ea typeface="Segoe UI" pitchFamily="34" charset="-122"/>
                <a:cs typeface="Segoe UI" pitchFamily="34" charset="-120"/>
              </a:rPr>
              <a:t>High momentum in electronics, precision engineering &amp; pharma
</a:t>
            </a:r>
            <a:endParaRPr lang="en-US" sz="1000" dirty="0"/>
          </a:p>
          <a:p>
            <a:pPr marL="342900" indent="-342900">
              <a:buSzPct val="100000"/>
              <a:buChar char="•"/>
            </a:pPr>
            <a:r>
              <a:rPr lang="en-US" sz="1000" dirty="0">
                <a:solidFill>
                  <a:srgbClr val="475569"/>
                </a:solidFill>
                <a:latin typeface="Segoe UI" pitchFamily="34" charset="0"/>
                <a:ea typeface="Segoe UI" pitchFamily="34" charset="-122"/>
                <a:cs typeface="Segoe UI" pitchFamily="34" charset="-120"/>
              </a:rPr>
              <a:t>MSMEs desperately need international direct buyer access
</a:t>
            </a:r>
            <a:endParaRPr lang="en-US" sz="1000" dirty="0"/>
          </a:p>
        </p:txBody>
      </p:sp>
      <p:sp>
        <p:nvSpPr>
          <p:cNvPr id="20" name="Shape 18"/>
          <p:cNvSpPr/>
          <p:nvPr/>
        </p:nvSpPr>
        <p:spPr>
          <a:xfrm>
            <a:off x="8046720" y="1645920"/>
            <a:ext cx="3383280" cy="4389120"/>
          </a:xfrm>
          <a:prstGeom prst="roundRect">
            <a:avLst>
              <a:gd name="adj" fmla="val 4054"/>
            </a:avLst>
          </a:prstGeom>
          <a:solidFill>
            <a:srgbClr val="FFFFFF"/>
          </a:solidFill>
          <a:ln w="19050">
            <a:solidFill>
              <a:srgbClr val="E2E8F0"/>
            </a:solidFill>
            <a:prstDash val="solid"/>
          </a:ln>
        </p:spPr>
      </p:sp>
      <p:sp>
        <p:nvSpPr>
          <p:cNvPr id="21" name="Text 19"/>
          <p:cNvSpPr/>
          <p:nvPr/>
        </p:nvSpPr>
        <p:spPr>
          <a:xfrm>
            <a:off x="8321040" y="1828800"/>
            <a:ext cx="731520" cy="365760"/>
          </a:xfrm>
          <a:prstGeom prst="rect">
            <a:avLst/>
          </a:prstGeom>
          <a:noFill/>
          <a:ln/>
        </p:spPr>
        <p:txBody>
          <a:bodyPr wrap="square" rtlCol="0" anchor="ctr"/>
          <a:lstStyle/>
          <a:p>
            <a:pPr indent="0" marL="0">
              <a:buNone/>
            </a:pPr>
            <a:r>
              <a:rPr lang="en-US" sz="1600" b="1" dirty="0">
                <a:solidFill>
                  <a:srgbClr val="059669"/>
                </a:solidFill>
                <a:latin typeface="Segoe UI" pitchFamily="34" charset="0"/>
                <a:ea typeface="Segoe UI" pitchFamily="34" charset="-122"/>
                <a:cs typeface="Segoe UI" pitchFamily="34" charset="-120"/>
              </a:rPr>
              <a:t>03</a:t>
            </a:r>
            <a:endParaRPr lang="en-US" sz="1600" dirty="0"/>
          </a:p>
        </p:txBody>
      </p:sp>
      <p:sp>
        <p:nvSpPr>
          <p:cNvPr id="22" name="Text 20"/>
          <p:cNvSpPr/>
          <p:nvPr/>
        </p:nvSpPr>
        <p:spPr>
          <a:xfrm>
            <a:off x="8321040" y="2194560"/>
            <a:ext cx="2834640" cy="548640"/>
          </a:xfrm>
          <a:prstGeom prst="rect">
            <a:avLst/>
          </a:prstGeom>
          <a:noFill/>
          <a:ln/>
        </p:spPr>
        <p:txBody>
          <a:bodyPr wrap="square" rtlCol="0" anchor="t"/>
          <a:lstStyle/>
          <a:p>
            <a:pPr indent="0" marL="0">
              <a:buNone/>
            </a:pPr>
            <a:r>
              <a:rPr lang="en-US" sz="1300" b="1" dirty="0">
                <a:solidFill>
                  <a:srgbClr val="0F172A"/>
                </a:solidFill>
                <a:latin typeface="Segoe UI" pitchFamily="34" charset="0"/>
                <a:ea typeface="Segoe UI" pitchFamily="34" charset="-122"/>
                <a:cs typeface="Segoe UI" pitchFamily="34" charset="-120"/>
              </a:rPr>
              <a:t>The Missing Digital Trust Layer</a:t>
            </a:r>
            <a:endParaRPr lang="en-US" sz="1300" dirty="0"/>
          </a:p>
        </p:txBody>
      </p:sp>
      <p:sp>
        <p:nvSpPr>
          <p:cNvPr id="23" name="Shape 21"/>
          <p:cNvSpPr/>
          <p:nvPr/>
        </p:nvSpPr>
        <p:spPr>
          <a:xfrm>
            <a:off x="8321040" y="2788920"/>
            <a:ext cx="2834640" cy="685800"/>
          </a:xfrm>
          <a:prstGeom prst="roundRect">
            <a:avLst>
              <a:gd name="adj" fmla="val 13333"/>
            </a:avLst>
          </a:prstGeom>
          <a:solidFill>
            <a:srgbClr val="ECFDF5"/>
          </a:solidFill>
          <a:ln w="12700">
            <a:solidFill>
              <a:srgbClr val="059669"/>
            </a:solidFill>
            <a:prstDash val="solid"/>
          </a:ln>
        </p:spPr>
      </p:sp>
      <p:sp>
        <p:nvSpPr>
          <p:cNvPr id="24" name="Text 22"/>
          <p:cNvSpPr/>
          <p:nvPr/>
        </p:nvSpPr>
        <p:spPr>
          <a:xfrm>
            <a:off x="8321040" y="2834640"/>
            <a:ext cx="2834640" cy="347472"/>
          </a:xfrm>
          <a:prstGeom prst="rect">
            <a:avLst/>
          </a:prstGeom>
          <a:noFill/>
          <a:ln/>
        </p:spPr>
        <p:txBody>
          <a:bodyPr wrap="square" rtlCol="0" anchor="ctr"/>
          <a:lstStyle/>
          <a:p>
            <a:pPr algn="ctr" indent="0" marL="0">
              <a:buNone/>
            </a:pPr>
            <a:r>
              <a:rPr lang="en-US" sz="1300" b="1" dirty="0">
                <a:solidFill>
                  <a:srgbClr val="059669"/>
                </a:solidFill>
                <a:latin typeface="Segoe UI" pitchFamily="34" charset="0"/>
                <a:ea typeface="Segoe UI" pitchFamily="34" charset="-122"/>
                <a:cs typeface="Segoe UI" pitchFamily="34" charset="-120"/>
              </a:rPr>
              <a:t>$12B+ Global Market</a:t>
            </a:r>
            <a:endParaRPr lang="en-US" sz="1300" dirty="0"/>
          </a:p>
        </p:txBody>
      </p:sp>
      <p:sp>
        <p:nvSpPr>
          <p:cNvPr id="25" name="Text 23"/>
          <p:cNvSpPr/>
          <p:nvPr/>
        </p:nvSpPr>
        <p:spPr>
          <a:xfrm>
            <a:off x="8321040" y="3182112"/>
            <a:ext cx="2834640" cy="256032"/>
          </a:xfrm>
          <a:prstGeom prst="rect">
            <a:avLst/>
          </a:prstGeom>
          <a:noFill/>
          <a:ln/>
        </p:spPr>
        <p:txBody>
          <a:bodyPr wrap="square" rtlCol="0" anchor="t"/>
          <a:lstStyle/>
          <a:p>
            <a:pPr algn="ctr" indent="0" marL="0">
              <a:buNone/>
            </a:pPr>
            <a:r>
              <a:rPr lang="en-US" sz="850" dirty="0">
                <a:solidFill>
                  <a:srgbClr val="475569"/>
                </a:solidFill>
                <a:latin typeface="Segoe UI" pitchFamily="34" charset="0"/>
                <a:ea typeface="Segoe UI" pitchFamily="34" charset="-122"/>
                <a:cs typeface="Segoe UI" pitchFamily="34" charset="-120"/>
              </a:rPr>
              <a:t>Supplier Quality &amp; KYB Verification Market</a:t>
            </a:r>
            <a:endParaRPr lang="en-US" sz="850" dirty="0"/>
          </a:p>
        </p:txBody>
      </p:sp>
      <p:sp>
        <p:nvSpPr>
          <p:cNvPr id="26" name="Text 24"/>
          <p:cNvSpPr/>
          <p:nvPr/>
        </p:nvSpPr>
        <p:spPr>
          <a:xfrm>
            <a:off x="8321040" y="3611880"/>
            <a:ext cx="2834640" cy="2286000"/>
          </a:xfrm>
          <a:prstGeom prst="rect">
            <a:avLst/>
          </a:prstGeom>
          <a:noFill/>
          <a:ln/>
        </p:spPr>
        <p:txBody>
          <a:bodyPr wrap="square" rtlCol="0" anchor="t"/>
          <a:lstStyle/>
          <a:p>
            <a:pPr marL="342900" indent="-342900">
              <a:buSzPct val="100000"/>
              <a:buChar char="•"/>
            </a:pPr>
            <a:r>
              <a:rPr lang="en-US" sz="1000" dirty="0">
                <a:solidFill>
                  <a:srgbClr val="475569"/>
                </a:solidFill>
                <a:latin typeface="Segoe UI" pitchFamily="34" charset="0"/>
                <a:ea typeface="Segoe UI" pitchFamily="34" charset="-122"/>
                <a:cs typeface="Segoe UI" pitchFamily="34" charset="-120"/>
              </a:rPr>
              <a:t>94% of Indian MSMEs are unorganized—traditional D&amp;B fails
</a:t>
            </a:r>
            <a:endParaRPr lang="en-US" sz="1000" dirty="0"/>
          </a:p>
          <a:p>
            <a:pPr marL="342900" indent="-342900">
              <a:buSzPct val="100000"/>
              <a:buChar char="•"/>
            </a:pPr>
            <a:r>
              <a:rPr lang="en-US" sz="1000" dirty="0">
                <a:solidFill>
                  <a:srgbClr val="475569"/>
                </a:solidFill>
                <a:latin typeface="Segoe UI" pitchFamily="34" charset="0"/>
                <a:ea typeface="Segoe UI" pitchFamily="34" charset="-122"/>
                <a:cs typeface="Segoe UI" pitchFamily="34" charset="-120"/>
              </a:rPr>
              <a:t>Buyers demand "evidence-based sourcing" over lead spam
</a:t>
            </a:r>
            <a:endParaRPr lang="en-US" sz="1000" dirty="0"/>
          </a:p>
          <a:p>
            <a:pPr marL="342900" indent="-342900">
              <a:buSzPct val="100000"/>
              <a:buChar char="•"/>
            </a:pPr>
            <a:r>
              <a:rPr lang="en-US" sz="1000" dirty="0">
                <a:solidFill>
                  <a:srgbClr val="475569"/>
                </a:solidFill>
                <a:latin typeface="Segoe UI" pitchFamily="34" charset="0"/>
                <a:ea typeface="Segoe UI" pitchFamily="34" charset="-122"/>
                <a:cs typeface="Segoe UI" pitchFamily="34" charset="-120"/>
              </a:rPr>
              <a:t>No India-specialized AI verification platform exists today
</a:t>
            </a:r>
            <a:endParaRPr lang="en-US" sz="1000" dirty="0"/>
          </a:p>
          <a:p>
            <a:pPr marL="342900" indent="-342900">
              <a:buSzPct val="100000"/>
              <a:buChar char="•"/>
            </a:pPr>
            <a:r>
              <a:rPr lang="en-US" sz="1000" dirty="0">
                <a:solidFill>
                  <a:srgbClr val="475569"/>
                </a:solidFill>
                <a:latin typeface="Segoe UI" pitchFamily="34" charset="0"/>
                <a:ea typeface="Segoe UI" pitchFamily="34" charset="-122"/>
                <a:cs typeface="Segoe UI" pitchFamily="34" charset="-120"/>
              </a:rPr>
              <a:t>First platform to build proprietary GIDC data wins the category
</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65760"/>
            <a:ext cx="2286000" cy="320040"/>
          </a:xfrm>
          <a:prstGeom prst="roundRect">
            <a:avLst>
              <a:gd name="adj" fmla="val 42857"/>
            </a:avLst>
          </a:prstGeom>
          <a:solidFill>
            <a:srgbClr val="FFF7ED"/>
          </a:solidFill>
          <a:ln w="12700">
            <a:solidFill>
              <a:srgbClr val="EA580C"/>
            </a:solidFill>
            <a:prstDash val="solid"/>
          </a:ln>
        </p:spPr>
      </p:sp>
      <p:sp>
        <p:nvSpPr>
          <p:cNvPr id="3" name="Text 1"/>
          <p:cNvSpPr/>
          <p:nvPr/>
        </p:nvSpPr>
        <p:spPr>
          <a:xfrm>
            <a:off x="731520" y="365760"/>
            <a:ext cx="2286000" cy="320040"/>
          </a:xfrm>
          <a:prstGeom prst="rect">
            <a:avLst/>
          </a:prstGeom>
          <a:noFill/>
          <a:ln/>
        </p:spPr>
        <p:txBody>
          <a:bodyPr wrap="square" rtlCol="0" anchor="ctr"/>
          <a:lstStyle/>
          <a:p>
            <a:pPr algn="ctr" indent="0" marL="0">
              <a:buNone/>
            </a:pPr>
            <a:r>
              <a:rPr lang="en-US" sz="1000" b="1" dirty="0">
                <a:solidFill>
                  <a:srgbClr val="C2410C"/>
                </a:solidFill>
                <a:latin typeface="Segoe UI" pitchFamily="34" charset="0"/>
                <a:ea typeface="Segoe UI" pitchFamily="34" charset="-122"/>
                <a:cs typeface="Segoe UI" pitchFamily="34" charset="-120"/>
              </a:rPr>
              <a:t>CORE SOLUTION</a:t>
            </a:r>
            <a:endParaRPr lang="en-US" sz="1000" dirty="0"/>
          </a:p>
        </p:txBody>
      </p:sp>
      <p:sp>
        <p:nvSpPr>
          <p:cNvPr id="4" name="Text 2"/>
          <p:cNvSpPr/>
          <p:nvPr/>
        </p:nvSpPr>
        <p:spPr>
          <a:xfrm>
            <a:off x="731520" y="731520"/>
            <a:ext cx="10515600" cy="502920"/>
          </a:xfrm>
          <a:prstGeom prst="rect">
            <a:avLst/>
          </a:prstGeom>
          <a:noFill/>
          <a:ln/>
        </p:spPr>
        <p:txBody>
          <a:bodyPr wrap="square" rtlCol="0" anchor="ctr"/>
          <a:lstStyle/>
          <a:p>
            <a:pPr indent="0" marL="0">
              <a:buNone/>
            </a:pPr>
            <a:r>
              <a:rPr lang="en-US" sz="2200" b="1" dirty="0">
                <a:solidFill>
                  <a:srgbClr val="0F172A"/>
                </a:solidFill>
                <a:latin typeface="Segoe UI" pitchFamily="34" charset="0"/>
                <a:ea typeface="Segoe UI" pitchFamily="34" charset="-122"/>
                <a:cs typeface="Segoe UI" pitchFamily="34" charset="-120"/>
              </a:rPr>
              <a:t>Artha: Verify → Score → Match</a:t>
            </a:r>
            <a:endParaRPr lang="en-US" sz="2200" dirty="0"/>
          </a:p>
        </p:txBody>
      </p:sp>
      <p:sp>
        <p:nvSpPr>
          <p:cNvPr id="5" name="Text 3"/>
          <p:cNvSpPr/>
          <p:nvPr/>
        </p:nvSpPr>
        <p:spPr>
          <a:xfrm>
            <a:off x="731520" y="1234440"/>
            <a:ext cx="10515600" cy="320040"/>
          </a:xfrm>
          <a:prstGeom prst="rect">
            <a:avLst/>
          </a:prstGeom>
          <a:noFill/>
          <a:ln/>
        </p:spPr>
        <p:txBody>
          <a:bodyPr wrap="square" rtlCol="0" anchor="ctr"/>
          <a:lstStyle/>
          <a:p>
            <a:pPr indent="0" marL="0">
              <a:buNone/>
            </a:pPr>
            <a:r>
              <a:rPr lang="en-US" sz="1200" dirty="0">
                <a:solidFill>
                  <a:srgbClr val="475569"/>
                </a:solidFill>
                <a:latin typeface="Segoe UI" pitchFamily="34" charset="0"/>
                <a:ea typeface="Segoe UI" pitchFamily="34" charset="-122"/>
                <a:cs typeface="Segoe UI" pitchFamily="34" charset="-120"/>
              </a:rPr>
              <a:t>Not a marketplace. Not a directory. An end-to-end AI-powered Trust Infrastructure.</a:t>
            </a:r>
            <a:endParaRPr lang="en-US" sz="1200" dirty="0"/>
          </a:p>
        </p:txBody>
      </p:sp>
      <p:sp>
        <p:nvSpPr>
          <p:cNvPr id="6" name="Shape 4"/>
          <p:cNvSpPr/>
          <p:nvPr/>
        </p:nvSpPr>
        <p:spPr>
          <a:xfrm>
            <a:off x="731520" y="1645920"/>
            <a:ext cx="2560320" cy="4389120"/>
          </a:xfrm>
          <a:prstGeom prst="roundRect">
            <a:avLst>
              <a:gd name="adj" fmla="val 5357"/>
            </a:avLst>
          </a:prstGeom>
          <a:solidFill>
            <a:srgbClr val="FFFFFF"/>
          </a:solidFill>
          <a:ln w="19050">
            <a:solidFill>
              <a:srgbClr val="2563EB"/>
            </a:solidFill>
            <a:prstDash val="solid"/>
          </a:ln>
        </p:spPr>
      </p:sp>
      <p:sp>
        <p:nvSpPr>
          <p:cNvPr id="7" name="Shape 5"/>
          <p:cNvSpPr/>
          <p:nvPr/>
        </p:nvSpPr>
        <p:spPr>
          <a:xfrm>
            <a:off x="960120" y="1828800"/>
            <a:ext cx="1097280" cy="274320"/>
          </a:xfrm>
          <a:prstGeom prst="roundRect">
            <a:avLst>
              <a:gd name="adj" fmla="val 33333"/>
            </a:avLst>
          </a:prstGeom>
          <a:solidFill>
            <a:srgbClr val="EFF6FF"/>
          </a:solidFill>
          <a:ln w="12700">
            <a:solidFill>
              <a:srgbClr val="2563EB"/>
            </a:solidFill>
            <a:prstDash val="solid"/>
          </a:ln>
        </p:spPr>
      </p:sp>
      <p:sp>
        <p:nvSpPr>
          <p:cNvPr id="8" name="Text 6"/>
          <p:cNvSpPr/>
          <p:nvPr/>
        </p:nvSpPr>
        <p:spPr>
          <a:xfrm>
            <a:off x="960120" y="1828800"/>
            <a:ext cx="1097280" cy="274320"/>
          </a:xfrm>
          <a:prstGeom prst="rect">
            <a:avLst/>
          </a:prstGeom>
          <a:noFill/>
          <a:ln/>
        </p:spPr>
        <p:txBody>
          <a:bodyPr wrap="square" rtlCol="0" anchor="ctr"/>
          <a:lstStyle/>
          <a:p>
            <a:pPr algn="ctr" indent="0" marL="0">
              <a:buNone/>
            </a:pPr>
            <a:r>
              <a:rPr lang="en-US" sz="900" b="1" dirty="0">
                <a:solidFill>
                  <a:srgbClr val="2563EB"/>
                </a:solidFill>
                <a:latin typeface="Segoe UI" pitchFamily="34" charset="0"/>
                <a:ea typeface="Segoe UI" pitchFamily="34" charset="-122"/>
                <a:cs typeface="Segoe UI" pitchFamily="34" charset="-120"/>
              </a:rPr>
              <a:t>STEP 1</a:t>
            </a:r>
            <a:endParaRPr lang="en-US" sz="900" dirty="0"/>
          </a:p>
        </p:txBody>
      </p:sp>
      <p:sp>
        <p:nvSpPr>
          <p:cNvPr id="9" name="Text 7"/>
          <p:cNvSpPr/>
          <p:nvPr/>
        </p:nvSpPr>
        <p:spPr>
          <a:xfrm>
            <a:off x="960120" y="2240280"/>
            <a:ext cx="2103120" cy="548640"/>
          </a:xfrm>
          <a:prstGeom prst="rect">
            <a:avLst/>
          </a:prstGeom>
          <a:noFill/>
          <a:ln/>
        </p:spPr>
        <p:txBody>
          <a:bodyPr wrap="square" rtlCol="0" anchor="t"/>
          <a:lstStyle/>
          <a:p>
            <a:pPr indent="0" marL="0">
              <a:buNone/>
            </a:pPr>
            <a:r>
              <a:rPr lang="en-US" sz="1200" b="1" dirty="0">
                <a:solidFill>
                  <a:srgbClr val="0F172A"/>
                </a:solidFill>
                <a:latin typeface="Segoe UI" pitchFamily="34" charset="0"/>
                <a:ea typeface="Segoe UI" pitchFamily="34" charset="-122"/>
                <a:cs typeface="Segoe UI" pitchFamily="34" charset="-120"/>
              </a:rPr>
              <a:t>FACTORY REGISTERS</a:t>
            </a:r>
            <a:endParaRPr lang="en-US" sz="1200" dirty="0"/>
          </a:p>
        </p:txBody>
      </p:sp>
      <p:sp>
        <p:nvSpPr>
          <p:cNvPr id="10" name="Text 8"/>
          <p:cNvSpPr/>
          <p:nvPr/>
        </p:nvSpPr>
        <p:spPr>
          <a:xfrm>
            <a:off x="960120" y="2834640"/>
            <a:ext cx="2103120" cy="274320"/>
          </a:xfrm>
          <a:prstGeom prst="rect">
            <a:avLst/>
          </a:prstGeom>
          <a:noFill/>
          <a:ln/>
        </p:spPr>
        <p:txBody>
          <a:bodyPr wrap="square" rtlCol="0" anchor="t"/>
          <a:lstStyle/>
          <a:p>
            <a:pPr indent="0" marL="0">
              <a:buNone/>
            </a:pPr>
            <a:r>
              <a:rPr lang="en-US" sz="950" b="1" dirty="0">
                <a:solidFill>
                  <a:srgbClr val="64748B"/>
                </a:solidFill>
                <a:latin typeface="Segoe UI" pitchFamily="34" charset="0"/>
                <a:ea typeface="Segoe UI" pitchFamily="34" charset="-122"/>
                <a:cs typeface="Segoe UI" pitchFamily="34" charset="-120"/>
              </a:rPr>
              <a:t>Onboarding &amp; Evidence</a:t>
            </a:r>
            <a:endParaRPr lang="en-US" sz="950" dirty="0"/>
          </a:p>
        </p:txBody>
      </p:sp>
      <p:sp>
        <p:nvSpPr>
          <p:cNvPr id="11" name="Shape 9"/>
          <p:cNvSpPr/>
          <p:nvPr/>
        </p:nvSpPr>
        <p:spPr>
          <a:xfrm>
            <a:off x="960120" y="3154680"/>
            <a:ext cx="2103120" cy="0"/>
          </a:xfrm>
          <a:prstGeom prst="line">
            <a:avLst/>
          </a:prstGeom>
          <a:noFill/>
          <a:ln w="12700">
            <a:solidFill>
              <a:srgbClr val="E2E8F0"/>
            </a:solidFill>
            <a:prstDash val="solid"/>
          </a:ln>
        </p:spPr>
      </p:sp>
      <p:sp>
        <p:nvSpPr>
          <p:cNvPr id="12" name="Text 10"/>
          <p:cNvSpPr/>
          <p:nvPr/>
        </p:nvSpPr>
        <p:spPr>
          <a:xfrm>
            <a:off x="960120" y="3291840"/>
            <a:ext cx="2103120" cy="2560320"/>
          </a:xfrm>
          <a:prstGeom prst="rect">
            <a:avLst/>
          </a:prstGeom>
          <a:noFill/>
          <a:ln/>
        </p:spPr>
        <p:txBody>
          <a:bodyPr wrap="square" rtlCol="0" anchor="t"/>
          <a:lstStyle/>
          <a:p>
            <a:pPr indent="0" marL="0">
              <a:buNone/>
            </a:pPr>
            <a:r>
              <a:rPr lang="en-US" sz="1050" dirty="0">
                <a:solidFill>
                  <a:srgbClr val="475569"/>
                </a:solidFill>
                <a:latin typeface="Segoe UI" pitchFamily="34" charset="0"/>
                <a:ea typeface="Segoe UI" pitchFamily="34" charset="-122"/>
                <a:cs typeface="Segoe UI" pitchFamily="34" charset="-120"/>
              </a:rPr>
              <a:t>Factory enters GSTIN, IEC, machinery capacity, and uploads licenses + factory walkthrough video.</a:t>
            </a:r>
            <a:endParaRPr lang="en-US" sz="1050" dirty="0"/>
          </a:p>
        </p:txBody>
      </p:sp>
      <p:sp>
        <p:nvSpPr>
          <p:cNvPr id="13" name="Shape 11"/>
          <p:cNvSpPr/>
          <p:nvPr/>
        </p:nvSpPr>
        <p:spPr>
          <a:xfrm>
            <a:off x="3474720" y="1645920"/>
            <a:ext cx="2560320" cy="4389120"/>
          </a:xfrm>
          <a:prstGeom prst="roundRect">
            <a:avLst>
              <a:gd name="adj" fmla="val 5357"/>
            </a:avLst>
          </a:prstGeom>
          <a:solidFill>
            <a:srgbClr val="FFFFFF"/>
          </a:solidFill>
          <a:ln w="19050">
            <a:solidFill>
              <a:srgbClr val="EA580C"/>
            </a:solidFill>
            <a:prstDash val="solid"/>
          </a:ln>
        </p:spPr>
      </p:sp>
      <p:sp>
        <p:nvSpPr>
          <p:cNvPr id="14" name="Shape 12"/>
          <p:cNvSpPr/>
          <p:nvPr/>
        </p:nvSpPr>
        <p:spPr>
          <a:xfrm>
            <a:off x="3703320" y="1828800"/>
            <a:ext cx="1097280" cy="274320"/>
          </a:xfrm>
          <a:prstGeom prst="roundRect">
            <a:avLst>
              <a:gd name="adj" fmla="val 33333"/>
            </a:avLst>
          </a:prstGeom>
          <a:solidFill>
            <a:srgbClr val="FFF7ED"/>
          </a:solidFill>
          <a:ln w="12700">
            <a:solidFill>
              <a:srgbClr val="EA580C"/>
            </a:solidFill>
            <a:prstDash val="solid"/>
          </a:ln>
        </p:spPr>
      </p:sp>
      <p:sp>
        <p:nvSpPr>
          <p:cNvPr id="15" name="Text 13"/>
          <p:cNvSpPr/>
          <p:nvPr/>
        </p:nvSpPr>
        <p:spPr>
          <a:xfrm>
            <a:off x="3703320" y="1828800"/>
            <a:ext cx="1097280" cy="274320"/>
          </a:xfrm>
          <a:prstGeom prst="rect">
            <a:avLst/>
          </a:prstGeom>
          <a:noFill/>
          <a:ln/>
        </p:spPr>
        <p:txBody>
          <a:bodyPr wrap="square" rtlCol="0" anchor="ctr"/>
          <a:lstStyle/>
          <a:p>
            <a:pPr algn="ctr" indent="0" marL="0">
              <a:buNone/>
            </a:pPr>
            <a:r>
              <a:rPr lang="en-US" sz="900" b="1" dirty="0">
                <a:solidFill>
                  <a:srgbClr val="EA580C"/>
                </a:solidFill>
                <a:latin typeface="Segoe UI" pitchFamily="34" charset="0"/>
                <a:ea typeface="Segoe UI" pitchFamily="34" charset="-122"/>
                <a:cs typeface="Segoe UI" pitchFamily="34" charset="-120"/>
              </a:rPr>
              <a:t>STEP 2</a:t>
            </a:r>
            <a:endParaRPr lang="en-US" sz="900" dirty="0"/>
          </a:p>
        </p:txBody>
      </p:sp>
      <p:sp>
        <p:nvSpPr>
          <p:cNvPr id="16" name="Text 14"/>
          <p:cNvSpPr/>
          <p:nvPr/>
        </p:nvSpPr>
        <p:spPr>
          <a:xfrm>
            <a:off x="3703320" y="2240280"/>
            <a:ext cx="2103120" cy="548640"/>
          </a:xfrm>
          <a:prstGeom prst="rect">
            <a:avLst/>
          </a:prstGeom>
          <a:noFill/>
          <a:ln/>
        </p:spPr>
        <p:txBody>
          <a:bodyPr wrap="square" rtlCol="0" anchor="t"/>
          <a:lstStyle/>
          <a:p>
            <a:pPr indent="0" marL="0">
              <a:buNone/>
            </a:pPr>
            <a:r>
              <a:rPr lang="en-US" sz="1200" b="1" dirty="0">
                <a:solidFill>
                  <a:srgbClr val="0F172A"/>
                </a:solidFill>
                <a:latin typeface="Segoe UI" pitchFamily="34" charset="0"/>
                <a:ea typeface="Segoe UI" pitchFamily="34" charset="-122"/>
                <a:cs typeface="Segoe UI" pitchFamily="34" charset="-120"/>
              </a:rPr>
              <a:t>ARTHA VERIFIES</a:t>
            </a:r>
            <a:endParaRPr lang="en-US" sz="1200" dirty="0"/>
          </a:p>
        </p:txBody>
      </p:sp>
      <p:sp>
        <p:nvSpPr>
          <p:cNvPr id="17" name="Text 15"/>
          <p:cNvSpPr/>
          <p:nvPr/>
        </p:nvSpPr>
        <p:spPr>
          <a:xfrm>
            <a:off x="3703320" y="2834640"/>
            <a:ext cx="2103120" cy="274320"/>
          </a:xfrm>
          <a:prstGeom prst="rect">
            <a:avLst/>
          </a:prstGeom>
          <a:noFill/>
          <a:ln/>
        </p:spPr>
        <p:txBody>
          <a:bodyPr wrap="square" rtlCol="0" anchor="t"/>
          <a:lstStyle/>
          <a:p>
            <a:pPr indent="0" marL="0">
              <a:buNone/>
            </a:pPr>
            <a:r>
              <a:rPr lang="en-US" sz="950" b="1" dirty="0">
                <a:solidFill>
                  <a:srgbClr val="64748B"/>
                </a:solidFill>
                <a:latin typeface="Segoe UI" pitchFamily="34" charset="0"/>
                <a:ea typeface="Segoe UI" pitchFamily="34" charset="-122"/>
                <a:cs typeface="Segoe UI" pitchFamily="34" charset="-120"/>
              </a:rPr>
              <a:t>Multi-Layer Validation</a:t>
            </a:r>
            <a:endParaRPr lang="en-US" sz="950" dirty="0"/>
          </a:p>
        </p:txBody>
      </p:sp>
      <p:sp>
        <p:nvSpPr>
          <p:cNvPr id="18" name="Shape 16"/>
          <p:cNvSpPr/>
          <p:nvPr/>
        </p:nvSpPr>
        <p:spPr>
          <a:xfrm>
            <a:off x="3703320" y="3154680"/>
            <a:ext cx="2103120" cy="0"/>
          </a:xfrm>
          <a:prstGeom prst="line">
            <a:avLst/>
          </a:prstGeom>
          <a:noFill/>
          <a:ln w="12700">
            <a:solidFill>
              <a:srgbClr val="E2E8F0"/>
            </a:solidFill>
            <a:prstDash val="solid"/>
          </a:ln>
        </p:spPr>
      </p:sp>
      <p:sp>
        <p:nvSpPr>
          <p:cNvPr id="19" name="Text 17"/>
          <p:cNvSpPr/>
          <p:nvPr/>
        </p:nvSpPr>
        <p:spPr>
          <a:xfrm>
            <a:off x="3703320" y="3291840"/>
            <a:ext cx="2103120" cy="2560320"/>
          </a:xfrm>
          <a:prstGeom prst="rect">
            <a:avLst/>
          </a:prstGeom>
          <a:noFill/>
          <a:ln/>
        </p:spPr>
        <p:txBody>
          <a:bodyPr wrap="square" rtlCol="0" anchor="t"/>
          <a:lstStyle/>
          <a:p>
            <a:pPr indent="0" marL="0">
              <a:buNone/>
            </a:pPr>
            <a:r>
              <a:rPr lang="en-US" sz="1050" dirty="0">
                <a:solidFill>
                  <a:srgbClr val="475569"/>
                </a:solidFill>
                <a:latin typeface="Segoe UI" pitchFamily="34" charset="0"/>
                <a:ea typeface="Segoe UI" pitchFamily="34" charset="-122"/>
                <a:cs typeface="Segoe UI" pitchFamily="34" charset="-120"/>
              </a:rPr>
              <a:t>ISO 7064 GSTIN checksum + Live government registry API cross-checks + Physical GPS tag confirmation.</a:t>
            </a:r>
            <a:endParaRPr lang="en-US" sz="1050" dirty="0"/>
          </a:p>
        </p:txBody>
      </p:sp>
      <p:sp>
        <p:nvSpPr>
          <p:cNvPr id="20" name="Shape 18"/>
          <p:cNvSpPr/>
          <p:nvPr/>
        </p:nvSpPr>
        <p:spPr>
          <a:xfrm>
            <a:off x="6217920" y="1645920"/>
            <a:ext cx="2560320" cy="4389120"/>
          </a:xfrm>
          <a:prstGeom prst="roundRect">
            <a:avLst>
              <a:gd name="adj" fmla="val 5357"/>
            </a:avLst>
          </a:prstGeom>
          <a:solidFill>
            <a:srgbClr val="FFFFFF"/>
          </a:solidFill>
          <a:ln w="19050">
            <a:solidFill>
              <a:srgbClr val="059669"/>
            </a:solidFill>
            <a:prstDash val="solid"/>
          </a:ln>
        </p:spPr>
      </p:sp>
      <p:sp>
        <p:nvSpPr>
          <p:cNvPr id="21" name="Shape 19"/>
          <p:cNvSpPr/>
          <p:nvPr/>
        </p:nvSpPr>
        <p:spPr>
          <a:xfrm>
            <a:off x="6446520" y="1828800"/>
            <a:ext cx="1097280" cy="274320"/>
          </a:xfrm>
          <a:prstGeom prst="roundRect">
            <a:avLst>
              <a:gd name="adj" fmla="val 33333"/>
            </a:avLst>
          </a:prstGeom>
          <a:solidFill>
            <a:srgbClr val="ECFDF5"/>
          </a:solidFill>
          <a:ln w="12700">
            <a:solidFill>
              <a:srgbClr val="059669"/>
            </a:solidFill>
            <a:prstDash val="solid"/>
          </a:ln>
        </p:spPr>
      </p:sp>
      <p:sp>
        <p:nvSpPr>
          <p:cNvPr id="22" name="Text 20"/>
          <p:cNvSpPr/>
          <p:nvPr/>
        </p:nvSpPr>
        <p:spPr>
          <a:xfrm>
            <a:off x="6446520" y="1828800"/>
            <a:ext cx="1097280" cy="274320"/>
          </a:xfrm>
          <a:prstGeom prst="rect">
            <a:avLst/>
          </a:prstGeom>
          <a:noFill/>
          <a:ln/>
        </p:spPr>
        <p:txBody>
          <a:bodyPr wrap="square" rtlCol="0" anchor="ctr"/>
          <a:lstStyle/>
          <a:p>
            <a:pPr algn="ctr" indent="0" marL="0">
              <a:buNone/>
            </a:pPr>
            <a:r>
              <a:rPr lang="en-US" sz="900" b="1" dirty="0">
                <a:solidFill>
                  <a:srgbClr val="059669"/>
                </a:solidFill>
                <a:latin typeface="Segoe UI" pitchFamily="34" charset="0"/>
                <a:ea typeface="Segoe UI" pitchFamily="34" charset="-122"/>
                <a:cs typeface="Segoe UI" pitchFamily="34" charset="-120"/>
              </a:rPr>
              <a:t>STEP 3</a:t>
            </a:r>
            <a:endParaRPr lang="en-US" sz="900" dirty="0"/>
          </a:p>
        </p:txBody>
      </p:sp>
      <p:sp>
        <p:nvSpPr>
          <p:cNvPr id="23" name="Text 21"/>
          <p:cNvSpPr/>
          <p:nvPr/>
        </p:nvSpPr>
        <p:spPr>
          <a:xfrm>
            <a:off x="6446520" y="2240280"/>
            <a:ext cx="2103120" cy="548640"/>
          </a:xfrm>
          <a:prstGeom prst="rect">
            <a:avLst/>
          </a:prstGeom>
          <a:noFill/>
          <a:ln/>
        </p:spPr>
        <p:txBody>
          <a:bodyPr wrap="square" rtlCol="0" anchor="t"/>
          <a:lstStyle/>
          <a:p>
            <a:pPr indent="0" marL="0">
              <a:buNone/>
            </a:pPr>
            <a:r>
              <a:rPr lang="en-US" sz="1200" b="1" dirty="0">
                <a:solidFill>
                  <a:srgbClr val="0F172A"/>
                </a:solidFill>
                <a:latin typeface="Segoe UI" pitchFamily="34" charset="0"/>
                <a:ea typeface="Segoe UI" pitchFamily="34" charset="-122"/>
                <a:cs typeface="Segoe UI" pitchFamily="34" charset="-120"/>
              </a:rPr>
              <a:t>TRUST SCORE COMPUTED</a:t>
            </a:r>
            <a:endParaRPr lang="en-US" sz="1200" dirty="0"/>
          </a:p>
        </p:txBody>
      </p:sp>
      <p:sp>
        <p:nvSpPr>
          <p:cNvPr id="24" name="Text 22"/>
          <p:cNvSpPr/>
          <p:nvPr/>
        </p:nvSpPr>
        <p:spPr>
          <a:xfrm>
            <a:off x="6446520" y="2834640"/>
            <a:ext cx="2103120" cy="274320"/>
          </a:xfrm>
          <a:prstGeom prst="rect">
            <a:avLst/>
          </a:prstGeom>
          <a:noFill/>
          <a:ln/>
        </p:spPr>
        <p:txBody>
          <a:bodyPr wrap="square" rtlCol="0" anchor="t"/>
          <a:lstStyle/>
          <a:p>
            <a:pPr indent="0" marL="0">
              <a:buNone/>
            </a:pPr>
            <a:r>
              <a:rPr lang="en-US" sz="950" b="1" dirty="0">
                <a:solidFill>
                  <a:srgbClr val="64748B"/>
                </a:solidFill>
                <a:latin typeface="Segoe UI" pitchFamily="34" charset="0"/>
                <a:ea typeface="Segoe UI" pitchFamily="34" charset="-122"/>
                <a:cs typeface="Segoe UI" pitchFamily="34" charset="-120"/>
              </a:rPr>
              <a:t>Un-purchasable Metric</a:t>
            </a:r>
            <a:endParaRPr lang="en-US" sz="950" dirty="0"/>
          </a:p>
        </p:txBody>
      </p:sp>
      <p:sp>
        <p:nvSpPr>
          <p:cNvPr id="25" name="Shape 23"/>
          <p:cNvSpPr/>
          <p:nvPr/>
        </p:nvSpPr>
        <p:spPr>
          <a:xfrm>
            <a:off x="6446520" y="3154680"/>
            <a:ext cx="2103120" cy="0"/>
          </a:xfrm>
          <a:prstGeom prst="line">
            <a:avLst/>
          </a:prstGeom>
          <a:noFill/>
          <a:ln w="12700">
            <a:solidFill>
              <a:srgbClr val="E2E8F0"/>
            </a:solidFill>
            <a:prstDash val="solid"/>
          </a:ln>
        </p:spPr>
      </p:sp>
      <p:sp>
        <p:nvSpPr>
          <p:cNvPr id="26" name="Text 24"/>
          <p:cNvSpPr/>
          <p:nvPr/>
        </p:nvSpPr>
        <p:spPr>
          <a:xfrm>
            <a:off x="6446520" y="3291840"/>
            <a:ext cx="2103120" cy="2560320"/>
          </a:xfrm>
          <a:prstGeom prst="rect">
            <a:avLst/>
          </a:prstGeom>
          <a:noFill/>
          <a:ln/>
        </p:spPr>
        <p:txBody>
          <a:bodyPr wrap="square" rtlCol="0" anchor="t"/>
          <a:lstStyle/>
          <a:p>
            <a:pPr indent="0" marL="0">
              <a:buNone/>
            </a:pPr>
            <a:r>
              <a:rPr lang="en-US" sz="1050" dirty="0">
                <a:solidFill>
                  <a:srgbClr val="475569"/>
                </a:solidFill>
                <a:latin typeface="Segoe UI" pitchFamily="34" charset="0"/>
                <a:ea typeface="Segoe UI" pitchFamily="34" charset="-122"/>
                <a:cs typeface="Segoe UI" pitchFamily="34" charset="-120"/>
              </a:rPr>
              <a:t>Deterministic 100-pt algorithm with automatic freshness decay. Badges are earned from data, never bought.</a:t>
            </a:r>
            <a:endParaRPr lang="en-US" sz="1050" dirty="0"/>
          </a:p>
        </p:txBody>
      </p:sp>
      <p:sp>
        <p:nvSpPr>
          <p:cNvPr id="27" name="Shape 25"/>
          <p:cNvSpPr/>
          <p:nvPr/>
        </p:nvSpPr>
        <p:spPr>
          <a:xfrm>
            <a:off x="8961120" y="1645920"/>
            <a:ext cx="2560320" cy="4389120"/>
          </a:xfrm>
          <a:prstGeom prst="roundRect">
            <a:avLst>
              <a:gd name="adj" fmla="val 5357"/>
            </a:avLst>
          </a:prstGeom>
          <a:solidFill>
            <a:srgbClr val="FFFFFF"/>
          </a:solidFill>
          <a:ln w="19050">
            <a:solidFill>
              <a:srgbClr val="D97706"/>
            </a:solidFill>
            <a:prstDash val="solid"/>
          </a:ln>
        </p:spPr>
      </p:sp>
      <p:sp>
        <p:nvSpPr>
          <p:cNvPr id="28" name="Shape 26"/>
          <p:cNvSpPr/>
          <p:nvPr/>
        </p:nvSpPr>
        <p:spPr>
          <a:xfrm>
            <a:off x="9189720" y="1828800"/>
            <a:ext cx="1097280" cy="274320"/>
          </a:xfrm>
          <a:prstGeom prst="roundRect">
            <a:avLst>
              <a:gd name="adj" fmla="val 33333"/>
            </a:avLst>
          </a:prstGeom>
          <a:solidFill>
            <a:srgbClr val="FEF3C7"/>
          </a:solidFill>
          <a:ln w="12700">
            <a:solidFill>
              <a:srgbClr val="D97706"/>
            </a:solidFill>
            <a:prstDash val="solid"/>
          </a:ln>
        </p:spPr>
      </p:sp>
      <p:sp>
        <p:nvSpPr>
          <p:cNvPr id="29" name="Text 27"/>
          <p:cNvSpPr/>
          <p:nvPr/>
        </p:nvSpPr>
        <p:spPr>
          <a:xfrm>
            <a:off x="9189720" y="1828800"/>
            <a:ext cx="1097280" cy="274320"/>
          </a:xfrm>
          <a:prstGeom prst="rect">
            <a:avLst/>
          </a:prstGeom>
          <a:noFill/>
          <a:ln/>
        </p:spPr>
        <p:txBody>
          <a:bodyPr wrap="square" rtlCol="0" anchor="ctr"/>
          <a:lstStyle/>
          <a:p>
            <a:pPr algn="ctr" indent="0" marL="0">
              <a:buNone/>
            </a:pPr>
            <a:r>
              <a:rPr lang="en-US" sz="900" b="1" dirty="0">
                <a:solidFill>
                  <a:srgbClr val="D97706"/>
                </a:solidFill>
                <a:latin typeface="Segoe UI" pitchFamily="34" charset="0"/>
                <a:ea typeface="Segoe UI" pitchFamily="34" charset="-122"/>
                <a:cs typeface="Segoe UI" pitchFamily="34" charset="-120"/>
              </a:rPr>
              <a:t>STEP 4</a:t>
            </a:r>
            <a:endParaRPr lang="en-US" sz="900" dirty="0"/>
          </a:p>
        </p:txBody>
      </p:sp>
      <p:sp>
        <p:nvSpPr>
          <p:cNvPr id="30" name="Text 28"/>
          <p:cNvSpPr/>
          <p:nvPr/>
        </p:nvSpPr>
        <p:spPr>
          <a:xfrm>
            <a:off x="9189720" y="2240280"/>
            <a:ext cx="2103120" cy="548640"/>
          </a:xfrm>
          <a:prstGeom prst="rect">
            <a:avLst/>
          </a:prstGeom>
          <a:noFill/>
          <a:ln/>
        </p:spPr>
        <p:txBody>
          <a:bodyPr wrap="square" rtlCol="0" anchor="t"/>
          <a:lstStyle/>
          <a:p>
            <a:pPr indent="0" marL="0">
              <a:buNone/>
            </a:pPr>
            <a:r>
              <a:rPr lang="en-US" sz="1200" b="1" dirty="0">
                <a:solidFill>
                  <a:srgbClr val="0F172A"/>
                </a:solidFill>
                <a:latin typeface="Segoe UI" pitchFamily="34" charset="0"/>
                <a:ea typeface="Segoe UI" pitchFamily="34" charset="-122"/>
                <a:cs typeface="Segoe UI" pitchFamily="34" charset="-120"/>
              </a:rPr>
              <a:t>AI MATCHES TO BUYERS</a:t>
            </a:r>
            <a:endParaRPr lang="en-US" sz="1200" dirty="0"/>
          </a:p>
        </p:txBody>
      </p:sp>
      <p:sp>
        <p:nvSpPr>
          <p:cNvPr id="31" name="Text 29"/>
          <p:cNvSpPr/>
          <p:nvPr/>
        </p:nvSpPr>
        <p:spPr>
          <a:xfrm>
            <a:off x="9189720" y="2834640"/>
            <a:ext cx="2103120" cy="274320"/>
          </a:xfrm>
          <a:prstGeom prst="rect">
            <a:avLst/>
          </a:prstGeom>
          <a:noFill/>
          <a:ln/>
        </p:spPr>
        <p:txBody>
          <a:bodyPr wrap="square" rtlCol="0" anchor="t"/>
          <a:lstStyle/>
          <a:p>
            <a:pPr indent="0" marL="0">
              <a:buNone/>
            </a:pPr>
            <a:r>
              <a:rPr lang="en-US" sz="950" b="1" dirty="0">
                <a:solidFill>
                  <a:srgbClr val="64748B"/>
                </a:solidFill>
                <a:latin typeface="Segoe UI" pitchFamily="34" charset="0"/>
                <a:ea typeface="Segoe UI" pitchFamily="34" charset="-122"/>
                <a:cs typeface="Segoe UI" pitchFamily="34" charset="-120"/>
              </a:rPr>
              <a:t>Evidence-Backed Shortlist</a:t>
            </a:r>
            <a:endParaRPr lang="en-US" sz="950" dirty="0"/>
          </a:p>
        </p:txBody>
      </p:sp>
      <p:sp>
        <p:nvSpPr>
          <p:cNvPr id="32" name="Shape 30"/>
          <p:cNvSpPr/>
          <p:nvPr/>
        </p:nvSpPr>
        <p:spPr>
          <a:xfrm>
            <a:off x="9189720" y="3154680"/>
            <a:ext cx="2103120" cy="0"/>
          </a:xfrm>
          <a:prstGeom prst="line">
            <a:avLst/>
          </a:prstGeom>
          <a:noFill/>
          <a:ln w="12700">
            <a:solidFill>
              <a:srgbClr val="E2E8F0"/>
            </a:solidFill>
            <a:prstDash val="solid"/>
          </a:ln>
        </p:spPr>
      </p:sp>
      <p:sp>
        <p:nvSpPr>
          <p:cNvPr id="33" name="Text 31"/>
          <p:cNvSpPr/>
          <p:nvPr/>
        </p:nvSpPr>
        <p:spPr>
          <a:xfrm>
            <a:off x="9189720" y="3291840"/>
            <a:ext cx="2103120" cy="2560320"/>
          </a:xfrm>
          <a:prstGeom prst="rect">
            <a:avLst/>
          </a:prstGeom>
          <a:noFill/>
          <a:ln/>
        </p:spPr>
        <p:txBody>
          <a:bodyPr wrap="square" rtlCol="0" anchor="t"/>
          <a:lstStyle/>
          <a:p>
            <a:pPr indent="0" marL="0">
              <a:buNone/>
            </a:pPr>
            <a:r>
              <a:rPr lang="en-US" sz="1050" dirty="0">
                <a:solidFill>
                  <a:srgbClr val="475569"/>
                </a:solidFill>
                <a:latin typeface="Segoe UI" pitchFamily="34" charset="0"/>
                <a:ea typeface="Segoe UI" pitchFamily="34" charset="-122"/>
                <a:cs typeface="Segoe UI" pitchFamily="34" charset="-120"/>
              </a:rPr>
              <a:t>Buyer posts RFQ → AI extracts requirements, filters verified suppliers, and outputs ranked shortlist with proof.</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65760"/>
            <a:ext cx="2286000" cy="320040"/>
          </a:xfrm>
          <a:prstGeom prst="roundRect">
            <a:avLst>
              <a:gd name="adj" fmla="val 42857"/>
            </a:avLst>
          </a:prstGeom>
          <a:solidFill>
            <a:srgbClr val="FFF7ED"/>
          </a:solidFill>
          <a:ln w="12700">
            <a:solidFill>
              <a:srgbClr val="EA580C"/>
            </a:solidFill>
            <a:prstDash val="solid"/>
          </a:ln>
        </p:spPr>
      </p:sp>
      <p:sp>
        <p:nvSpPr>
          <p:cNvPr id="3" name="Text 1"/>
          <p:cNvSpPr/>
          <p:nvPr/>
        </p:nvSpPr>
        <p:spPr>
          <a:xfrm>
            <a:off x="731520" y="365760"/>
            <a:ext cx="2286000" cy="320040"/>
          </a:xfrm>
          <a:prstGeom prst="rect">
            <a:avLst/>
          </a:prstGeom>
          <a:noFill/>
          <a:ln/>
        </p:spPr>
        <p:txBody>
          <a:bodyPr wrap="square" rtlCol="0" anchor="ctr"/>
          <a:lstStyle/>
          <a:p>
            <a:pPr algn="ctr" indent="0" marL="0">
              <a:buNone/>
            </a:pPr>
            <a:r>
              <a:rPr lang="en-US" sz="1000" b="1" dirty="0">
                <a:solidFill>
                  <a:srgbClr val="C2410C"/>
                </a:solidFill>
                <a:latin typeface="Segoe UI" pitchFamily="34" charset="0"/>
                <a:ea typeface="Segoe UI" pitchFamily="34" charset="-122"/>
                <a:cs typeface="Segoe UI" pitchFamily="34" charset="-120"/>
              </a:rPr>
              <a:t>TECHNOLOGY ARCHITECTURE</a:t>
            </a:r>
            <a:endParaRPr lang="en-US" sz="1000" dirty="0"/>
          </a:p>
        </p:txBody>
      </p:sp>
      <p:sp>
        <p:nvSpPr>
          <p:cNvPr id="4" name="Text 2"/>
          <p:cNvSpPr/>
          <p:nvPr/>
        </p:nvSpPr>
        <p:spPr>
          <a:xfrm>
            <a:off x="731520" y="731520"/>
            <a:ext cx="10515600" cy="502920"/>
          </a:xfrm>
          <a:prstGeom prst="rect">
            <a:avLst/>
          </a:prstGeom>
          <a:noFill/>
          <a:ln/>
        </p:spPr>
        <p:txBody>
          <a:bodyPr wrap="square" rtlCol="0" anchor="ctr"/>
          <a:lstStyle/>
          <a:p>
            <a:pPr indent="0" marL="0">
              <a:buNone/>
            </a:pPr>
            <a:r>
              <a:rPr lang="en-US" sz="2200" b="1" dirty="0">
                <a:solidFill>
                  <a:srgbClr val="0F172A"/>
                </a:solidFill>
                <a:latin typeface="Segoe UI" pitchFamily="34" charset="0"/>
                <a:ea typeface="Segoe UI" pitchFamily="34" charset="-122"/>
                <a:cs typeface="Segoe UI" pitchFamily="34" charset="-120"/>
              </a:rPr>
              <a:t>The AI &amp; Trust Engine: Phased &amp; Accountable</a:t>
            </a:r>
            <a:endParaRPr lang="en-US" sz="2200" dirty="0"/>
          </a:p>
        </p:txBody>
      </p:sp>
      <p:sp>
        <p:nvSpPr>
          <p:cNvPr id="5" name="Text 3"/>
          <p:cNvSpPr/>
          <p:nvPr/>
        </p:nvSpPr>
        <p:spPr>
          <a:xfrm>
            <a:off x="731520" y="1234440"/>
            <a:ext cx="10515600" cy="320040"/>
          </a:xfrm>
          <a:prstGeom prst="rect">
            <a:avLst/>
          </a:prstGeom>
          <a:noFill/>
          <a:ln/>
        </p:spPr>
        <p:txBody>
          <a:bodyPr wrap="square" rtlCol="0" anchor="ctr"/>
          <a:lstStyle/>
          <a:p>
            <a:pPr indent="0" marL="0">
              <a:buNone/>
            </a:pPr>
            <a:r>
              <a:rPr lang="en-US" sz="1200" dirty="0">
                <a:solidFill>
                  <a:srgbClr val="475569"/>
                </a:solidFill>
                <a:latin typeface="Segoe UI" pitchFamily="34" charset="0"/>
                <a:ea typeface="Segoe UI" pitchFamily="34" charset="-122"/>
                <a:cs typeface="Segoe UI" pitchFamily="34" charset="-120"/>
              </a:rPr>
              <a:t>Transparent multi-attribute ranking with explainability and automatic trust score freshness decay.</a:t>
            </a:r>
            <a:endParaRPr lang="en-US" sz="1200" dirty="0"/>
          </a:p>
        </p:txBody>
      </p:sp>
      <p:sp>
        <p:nvSpPr>
          <p:cNvPr id="6" name="Shape 4"/>
          <p:cNvSpPr/>
          <p:nvPr/>
        </p:nvSpPr>
        <p:spPr>
          <a:xfrm>
            <a:off x="731520" y="1645920"/>
            <a:ext cx="5303520" cy="4389120"/>
          </a:xfrm>
          <a:prstGeom prst="roundRect">
            <a:avLst>
              <a:gd name="adj" fmla="val 3125"/>
            </a:avLst>
          </a:prstGeom>
          <a:solidFill>
            <a:srgbClr val="FFFFFF"/>
          </a:solidFill>
          <a:ln w="19050">
            <a:solidFill>
              <a:srgbClr val="E2E8F0"/>
            </a:solidFill>
            <a:prstDash val="solid"/>
          </a:ln>
        </p:spPr>
      </p:sp>
      <p:sp>
        <p:nvSpPr>
          <p:cNvPr id="7" name="Text 5"/>
          <p:cNvSpPr/>
          <p:nvPr/>
        </p:nvSpPr>
        <p:spPr>
          <a:xfrm>
            <a:off x="1005840" y="1828800"/>
            <a:ext cx="4754880" cy="320040"/>
          </a:xfrm>
          <a:prstGeom prst="rect">
            <a:avLst/>
          </a:prstGeom>
          <a:noFill/>
          <a:ln/>
        </p:spPr>
        <p:txBody>
          <a:bodyPr wrap="square" rtlCol="0" anchor="ctr"/>
          <a:lstStyle/>
          <a:p>
            <a:pPr indent="0" marL="0">
              <a:buNone/>
            </a:pPr>
            <a:r>
              <a:rPr lang="en-US" sz="1300" b="1" dirty="0">
                <a:solidFill>
                  <a:srgbClr val="EA580C"/>
                </a:solidFill>
                <a:latin typeface="Segoe UI" pitchFamily="34" charset="0"/>
                <a:ea typeface="Segoe UI" pitchFamily="34" charset="-122"/>
                <a:cs typeface="Segoe UI" pitchFamily="34" charset="-120"/>
              </a:rPr>
              <a:t>AI MATCHING ROADMAP</a:t>
            </a:r>
            <a:endParaRPr lang="en-US" sz="1300" dirty="0"/>
          </a:p>
        </p:txBody>
      </p:sp>
      <p:sp>
        <p:nvSpPr>
          <p:cNvPr id="8" name="Text 6"/>
          <p:cNvSpPr/>
          <p:nvPr/>
        </p:nvSpPr>
        <p:spPr>
          <a:xfrm>
            <a:off x="1005840" y="2240280"/>
            <a:ext cx="4754880" cy="320040"/>
          </a:xfrm>
          <a:prstGeom prst="rect">
            <a:avLst/>
          </a:prstGeom>
          <a:noFill/>
          <a:ln/>
        </p:spPr>
        <p:txBody>
          <a:bodyPr wrap="square" rtlCol="0" anchor="t"/>
          <a:lstStyle/>
          <a:p>
            <a:pPr indent="0" marL="0">
              <a:buNone/>
            </a:pPr>
            <a:r>
              <a:rPr lang="en-US" sz="1050" b="1" dirty="0">
                <a:solidFill>
                  <a:srgbClr val="0F172A"/>
                </a:solidFill>
                <a:latin typeface="Segoe UI" pitchFamily="34" charset="0"/>
                <a:ea typeface="Segoe UI" pitchFamily="34" charset="-122"/>
                <a:cs typeface="Segoe UI" pitchFamily="34" charset="-120"/>
              </a:rPr>
              <a:t>PHASE 1: Deterministic + Hybrid LLM (BUILT &amp; OPERATIONAL)</a:t>
            </a:r>
            <a:endParaRPr lang="en-US" sz="1050" dirty="0"/>
          </a:p>
        </p:txBody>
      </p:sp>
      <p:sp>
        <p:nvSpPr>
          <p:cNvPr id="9" name="Text 7"/>
          <p:cNvSpPr/>
          <p:nvPr/>
        </p:nvSpPr>
        <p:spPr>
          <a:xfrm>
            <a:off x="1005840" y="2560320"/>
            <a:ext cx="4754880" cy="868680"/>
          </a:xfrm>
          <a:prstGeom prst="rect">
            <a:avLst/>
          </a:prstGeom>
          <a:noFill/>
          <a:ln/>
        </p:spPr>
        <p:txBody>
          <a:bodyPr wrap="square" rtlCol="0" anchor="t"/>
          <a:lstStyle/>
          <a:p>
            <a:pPr indent="0" marL="0">
              <a:buNone/>
            </a:pPr>
            <a:r>
              <a:rPr lang="en-US" sz="950" dirty="0">
                <a:solidFill>
                  <a:srgbClr val="475569"/>
                </a:solidFill>
                <a:latin typeface="Segoe UI" pitchFamily="34" charset="0"/>
                <a:ea typeface="Segoe UI" pitchFamily="34" charset="-122"/>
                <a:cs typeface="Segoe UI" pitchFamily="34" charset="-120"/>
              </a:rPr>
              <a:t>100-point rule-based scorer + hard constraint filter (categories, ISO standards) + GPT-4o fallback for unstructured buyer queries. 0 hallucination risk.</a:t>
            </a:r>
            <a:endParaRPr lang="en-US" sz="950" dirty="0"/>
          </a:p>
        </p:txBody>
      </p:sp>
      <p:sp>
        <p:nvSpPr>
          <p:cNvPr id="10" name="Text 8"/>
          <p:cNvSpPr/>
          <p:nvPr/>
        </p:nvSpPr>
        <p:spPr>
          <a:xfrm>
            <a:off x="1005840" y="3474720"/>
            <a:ext cx="4754880" cy="320040"/>
          </a:xfrm>
          <a:prstGeom prst="rect">
            <a:avLst/>
          </a:prstGeom>
          <a:noFill/>
          <a:ln/>
        </p:spPr>
        <p:txBody>
          <a:bodyPr wrap="square" rtlCol="0" anchor="t"/>
          <a:lstStyle/>
          <a:p>
            <a:pPr indent="0" marL="0">
              <a:buNone/>
            </a:pPr>
            <a:r>
              <a:rPr lang="en-US" sz="1050" b="1" dirty="0">
                <a:solidFill>
                  <a:srgbClr val="0F172A"/>
                </a:solidFill>
                <a:latin typeface="Segoe UI" pitchFamily="34" charset="0"/>
                <a:ea typeface="Segoe UI" pitchFamily="34" charset="-122"/>
                <a:cs typeface="Segoe UI" pitchFamily="34" charset="-120"/>
              </a:rPr>
              <a:t>PHASE 2: Semantic Search &amp; Intent Extraction (WITH FUNDING)</a:t>
            </a:r>
            <a:endParaRPr lang="en-US" sz="1050" dirty="0"/>
          </a:p>
        </p:txBody>
      </p:sp>
      <p:sp>
        <p:nvSpPr>
          <p:cNvPr id="11" name="Text 9"/>
          <p:cNvSpPr/>
          <p:nvPr/>
        </p:nvSpPr>
        <p:spPr>
          <a:xfrm>
            <a:off x="1005840" y="3794760"/>
            <a:ext cx="4754880" cy="868680"/>
          </a:xfrm>
          <a:prstGeom prst="rect">
            <a:avLst/>
          </a:prstGeom>
          <a:noFill/>
          <a:ln/>
        </p:spPr>
        <p:txBody>
          <a:bodyPr wrap="square" rtlCol="0" anchor="t"/>
          <a:lstStyle/>
          <a:p>
            <a:pPr indent="0" marL="0">
              <a:buNone/>
            </a:pPr>
            <a:r>
              <a:rPr lang="en-US" sz="950" dirty="0">
                <a:solidFill>
                  <a:srgbClr val="475569"/>
                </a:solidFill>
                <a:latin typeface="Segoe UI" pitchFamily="34" charset="0"/>
                <a:ea typeface="Segoe UI" pitchFamily="34" charset="-122"/>
                <a:cs typeface="Segoe UI" pitchFamily="34" charset="-120"/>
              </a:rPr>
              <a:t>NLP intent parsing on free-text RFQs + pgvector embeddings for deep capability matching beyond exact keyword synonyms.</a:t>
            </a:r>
            <a:endParaRPr lang="en-US" sz="950" dirty="0"/>
          </a:p>
        </p:txBody>
      </p:sp>
      <p:sp>
        <p:nvSpPr>
          <p:cNvPr id="12" name="Text 10"/>
          <p:cNvSpPr/>
          <p:nvPr/>
        </p:nvSpPr>
        <p:spPr>
          <a:xfrm>
            <a:off x="1005840" y="4709160"/>
            <a:ext cx="4754880" cy="320040"/>
          </a:xfrm>
          <a:prstGeom prst="rect">
            <a:avLst/>
          </a:prstGeom>
          <a:noFill/>
          <a:ln/>
        </p:spPr>
        <p:txBody>
          <a:bodyPr wrap="square" rtlCol="0" anchor="t"/>
          <a:lstStyle/>
          <a:p>
            <a:pPr indent="0" marL="0">
              <a:buNone/>
            </a:pPr>
            <a:r>
              <a:rPr lang="en-US" sz="1050" b="1" dirty="0">
                <a:solidFill>
                  <a:srgbClr val="0F172A"/>
                </a:solidFill>
                <a:latin typeface="Segoe UI" pitchFamily="34" charset="0"/>
                <a:ea typeface="Segoe UI" pitchFamily="34" charset="-122"/>
                <a:cs typeface="Segoe UI" pitchFamily="34" charset="-120"/>
              </a:rPr>
              <a:t>PHASE 3: Feedback Loops &amp; Anomaly ML (WITH TRANSACTIONS)</a:t>
            </a:r>
            <a:endParaRPr lang="en-US" sz="1050" dirty="0"/>
          </a:p>
        </p:txBody>
      </p:sp>
      <p:sp>
        <p:nvSpPr>
          <p:cNvPr id="13" name="Text 11"/>
          <p:cNvSpPr/>
          <p:nvPr/>
        </p:nvSpPr>
        <p:spPr>
          <a:xfrm>
            <a:off x="1005840" y="5029200"/>
            <a:ext cx="4754880" cy="868680"/>
          </a:xfrm>
          <a:prstGeom prst="rect">
            <a:avLst/>
          </a:prstGeom>
          <a:noFill/>
          <a:ln/>
        </p:spPr>
        <p:txBody>
          <a:bodyPr wrap="square" rtlCol="0" anchor="t"/>
          <a:lstStyle/>
          <a:p>
            <a:pPr indent="0" marL="0">
              <a:buNone/>
            </a:pPr>
            <a:r>
              <a:rPr lang="en-US" sz="950" dirty="0">
                <a:solidFill>
                  <a:srgbClr val="475569"/>
                </a:solidFill>
                <a:latin typeface="Segoe UI" pitchFamily="34" charset="0"/>
                <a:ea typeface="Segoe UI" pitchFamily="34" charset="-122"/>
                <a:cs typeface="Segoe UI" pitchFamily="34" charset="-120"/>
              </a:rPr>
              <a:t>Buyer acceptance/rejection logs adjust ranking weights; predictive fraud detection monitors continuous compliance changes.</a:t>
            </a:r>
            <a:endParaRPr lang="en-US" sz="950" dirty="0"/>
          </a:p>
        </p:txBody>
      </p:sp>
      <p:sp>
        <p:nvSpPr>
          <p:cNvPr id="14" name="Shape 12"/>
          <p:cNvSpPr/>
          <p:nvPr/>
        </p:nvSpPr>
        <p:spPr>
          <a:xfrm>
            <a:off x="6309360" y="1645920"/>
            <a:ext cx="5120640" cy="4389120"/>
          </a:xfrm>
          <a:prstGeom prst="roundRect">
            <a:avLst>
              <a:gd name="adj" fmla="val 3125"/>
            </a:avLst>
          </a:prstGeom>
          <a:solidFill>
            <a:srgbClr val="FFFFFF"/>
          </a:solidFill>
          <a:ln w="19050">
            <a:solidFill>
              <a:srgbClr val="E2E8F0"/>
            </a:solidFill>
            <a:prstDash val="solid"/>
          </a:ln>
        </p:spPr>
      </p:sp>
      <p:sp>
        <p:nvSpPr>
          <p:cNvPr id="15" name="Text 13"/>
          <p:cNvSpPr/>
          <p:nvPr/>
        </p:nvSpPr>
        <p:spPr>
          <a:xfrm>
            <a:off x="6583680" y="1828800"/>
            <a:ext cx="4572000" cy="320040"/>
          </a:xfrm>
          <a:prstGeom prst="rect">
            <a:avLst/>
          </a:prstGeom>
          <a:noFill/>
          <a:ln/>
        </p:spPr>
        <p:txBody>
          <a:bodyPr wrap="square" rtlCol="0" anchor="ctr"/>
          <a:lstStyle/>
          <a:p>
            <a:pPr indent="0" marL="0">
              <a:buNone/>
            </a:pPr>
            <a:r>
              <a:rPr lang="en-US" sz="1300" b="1" dirty="0">
                <a:solidFill>
                  <a:srgbClr val="2563EB"/>
                </a:solidFill>
                <a:latin typeface="Segoe UI" pitchFamily="34" charset="0"/>
                <a:ea typeface="Segoe UI" pitchFamily="34" charset="-122"/>
                <a:cs typeface="Segoe UI" pitchFamily="34" charset="-120"/>
              </a:rPr>
              <a:t>100-POINT TRUST SCORE BREAKDOWN</a:t>
            </a:r>
            <a:endParaRPr lang="en-US" sz="1300" dirty="0"/>
          </a:p>
        </p:txBody>
      </p:sp>
      <p:sp>
        <p:nvSpPr>
          <p:cNvPr id="16" name="Text 14"/>
          <p:cNvSpPr/>
          <p:nvPr/>
        </p:nvSpPr>
        <p:spPr>
          <a:xfrm>
            <a:off x="6583680" y="2240280"/>
            <a:ext cx="3657600" cy="320040"/>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Identity &amp; Legal Validity (GSTIN/IEC/PAN)</a:t>
            </a:r>
            <a:endParaRPr lang="en-US" sz="1000" dirty="0"/>
          </a:p>
        </p:txBody>
      </p:sp>
      <p:sp>
        <p:nvSpPr>
          <p:cNvPr id="17" name="Text 15"/>
          <p:cNvSpPr/>
          <p:nvPr/>
        </p:nvSpPr>
        <p:spPr>
          <a:xfrm>
            <a:off x="10241280" y="2240280"/>
            <a:ext cx="914400" cy="320040"/>
          </a:xfrm>
          <a:prstGeom prst="rect">
            <a:avLst/>
          </a:prstGeom>
          <a:noFill/>
          <a:ln/>
        </p:spPr>
        <p:txBody>
          <a:bodyPr wrap="square" rtlCol="0" anchor="ctr"/>
          <a:lstStyle/>
          <a:p>
            <a:pPr algn="r" indent="0" marL="0">
              <a:buNone/>
            </a:pPr>
            <a:r>
              <a:rPr lang="en-US" sz="1000" b="1" dirty="0">
                <a:solidFill>
                  <a:srgbClr val="2563EB"/>
                </a:solidFill>
                <a:latin typeface="Segoe UI" pitchFamily="34" charset="0"/>
                <a:ea typeface="Segoe UI" pitchFamily="34" charset="-122"/>
                <a:cs typeface="Segoe UI" pitchFamily="34" charset="-120"/>
              </a:rPr>
              <a:t>25 Pts</a:t>
            </a:r>
            <a:endParaRPr lang="en-US" sz="1000" dirty="0"/>
          </a:p>
        </p:txBody>
      </p:sp>
      <p:sp>
        <p:nvSpPr>
          <p:cNvPr id="18" name="Text 16"/>
          <p:cNvSpPr/>
          <p:nvPr/>
        </p:nvSpPr>
        <p:spPr>
          <a:xfrm>
            <a:off x="6583680" y="2651760"/>
            <a:ext cx="3657600" cy="320040"/>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Reputation &amp; Export History Proof</a:t>
            </a:r>
            <a:endParaRPr lang="en-US" sz="1000" dirty="0"/>
          </a:p>
        </p:txBody>
      </p:sp>
      <p:sp>
        <p:nvSpPr>
          <p:cNvPr id="19" name="Text 17"/>
          <p:cNvSpPr/>
          <p:nvPr/>
        </p:nvSpPr>
        <p:spPr>
          <a:xfrm>
            <a:off x="10241280" y="2651760"/>
            <a:ext cx="914400" cy="320040"/>
          </a:xfrm>
          <a:prstGeom prst="rect">
            <a:avLst/>
          </a:prstGeom>
          <a:noFill/>
          <a:ln/>
        </p:spPr>
        <p:txBody>
          <a:bodyPr wrap="square" rtlCol="0" anchor="ctr"/>
          <a:lstStyle/>
          <a:p>
            <a:pPr algn="r" indent="0" marL="0">
              <a:buNone/>
            </a:pPr>
            <a:r>
              <a:rPr lang="en-US" sz="1000" b="1" dirty="0">
                <a:solidFill>
                  <a:srgbClr val="059669"/>
                </a:solidFill>
                <a:latin typeface="Segoe UI" pitchFamily="34" charset="0"/>
                <a:ea typeface="Segoe UI" pitchFamily="34" charset="-122"/>
                <a:cs typeface="Segoe UI" pitchFamily="34" charset="-120"/>
              </a:rPr>
              <a:t>20 Pts</a:t>
            </a:r>
            <a:endParaRPr lang="en-US" sz="1000" dirty="0"/>
          </a:p>
        </p:txBody>
      </p:sp>
      <p:sp>
        <p:nvSpPr>
          <p:cNvPr id="20" name="Text 18"/>
          <p:cNvSpPr/>
          <p:nvPr/>
        </p:nvSpPr>
        <p:spPr>
          <a:xfrm>
            <a:off x="6583680" y="3063240"/>
            <a:ext cx="3657600" cy="320040"/>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Response Rate &amp; SLA Reliability</a:t>
            </a:r>
            <a:endParaRPr lang="en-US" sz="1000" dirty="0"/>
          </a:p>
        </p:txBody>
      </p:sp>
      <p:sp>
        <p:nvSpPr>
          <p:cNvPr id="21" name="Text 19"/>
          <p:cNvSpPr/>
          <p:nvPr/>
        </p:nvSpPr>
        <p:spPr>
          <a:xfrm>
            <a:off x="10241280" y="3063240"/>
            <a:ext cx="914400" cy="320040"/>
          </a:xfrm>
          <a:prstGeom prst="rect">
            <a:avLst/>
          </a:prstGeom>
          <a:noFill/>
          <a:ln/>
        </p:spPr>
        <p:txBody>
          <a:bodyPr wrap="square" rtlCol="0" anchor="ctr"/>
          <a:lstStyle/>
          <a:p>
            <a:pPr algn="r" indent="0" marL="0">
              <a:buNone/>
            </a:pPr>
            <a:r>
              <a:rPr lang="en-US" sz="1000" b="1" dirty="0">
                <a:solidFill>
                  <a:srgbClr val="D97706"/>
                </a:solidFill>
                <a:latin typeface="Segoe UI" pitchFamily="34" charset="0"/>
                <a:ea typeface="Segoe UI" pitchFamily="34" charset="-122"/>
                <a:cs typeface="Segoe UI" pitchFamily="34" charset="-120"/>
              </a:rPr>
              <a:t>20 Pts</a:t>
            </a:r>
            <a:endParaRPr lang="en-US" sz="1000" dirty="0"/>
          </a:p>
        </p:txBody>
      </p:sp>
      <p:sp>
        <p:nvSpPr>
          <p:cNvPr id="22" name="Text 20"/>
          <p:cNvSpPr/>
          <p:nvPr/>
        </p:nvSpPr>
        <p:spPr>
          <a:xfrm>
            <a:off x="6583680" y="3474720"/>
            <a:ext cx="3657600" cy="320040"/>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Physical Audit Quality &amp; GPS Walkthrough</a:t>
            </a:r>
            <a:endParaRPr lang="en-US" sz="1000" dirty="0"/>
          </a:p>
        </p:txBody>
      </p:sp>
      <p:sp>
        <p:nvSpPr>
          <p:cNvPr id="23" name="Text 21"/>
          <p:cNvSpPr/>
          <p:nvPr/>
        </p:nvSpPr>
        <p:spPr>
          <a:xfrm>
            <a:off x="10241280" y="3474720"/>
            <a:ext cx="914400" cy="320040"/>
          </a:xfrm>
          <a:prstGeom prst="rect">
            <a:avLst/>
          </a:prstGeom>
          <a:noFill/>
          <a:ln/>
        </p:spPr>
        <p:txBody>
          <a:bodyPr wrap="square" rtlCol="0" anchor="ctr"/>
          <a:lstStyle/>
          <a:p>
            <a:pPr algn="r" indent="0" marL="0">
              <a:buNone/>
            </a:pPr>
            <a:r>
              <a:rPr lang="en-US" sz="1000" b="1" dirty="0">
                <a:solidFill>
                  <a:srgbClr val="EA580C"/>
                </a:solidFill>
                <a:latin typeface="Segoe UI" pitchFamily="34" charset="0"/>
                <a:ea typeface="Segoe UI" pitchFamily="34" charset="-122"/>
                <a:cs typeface="Segoe UI" pitchFamily="34" charset="-120"/>
              </a:rPr>
              <a:t>15 Pts</a:t>
            </a:r>
            <a:endParaRPr lang="en-US" sz="1000" dirty="0"/>
          </a:p>
        </p:txBody>
      </p:sp>
      <p:sp>
        <p:nvSpPr>
          <p:cNvPr id="24" name="Text 22"/>
          <p:cNvSpPr/>
          <p:nvPr/>
        </p:nvSpPr>
        <p:spPr>
          <a:xfrm>
            <a:off x="6583680" y="3886200"/>
            <a:ext cx="3657600" cy="320040"/>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Platform Engagement &amp; Completeness</a:t>
            </a:r>
            <a:endParaRPr lang="en-US" sz="1000" dirty="0"/>
          </a:p>
        </p:txBody>
      </p:sp>
      <p:sp>
        <p:nvSpPr>
          <p:cNvPr id="25" name="Text 23"/>
          <p:cNvSpPr/>
          <p:nvPr/>
        </p:nvSpPr>
        <p:spPr>
          <a:xfrm>
            <a:off x="10241280" y="3886200"/>
            <a:ext cx="914400" cy="320040"/>
          </a:xfrm>
          <a:prstGeom prst="rect">
            <a:avLst/>
          </a:prstGeom>
          <a:noFill/>
          <a:ln/>
        </p:spPr>
        <p:txBody>
          <a:bodyPr wrap="square" rtlCol="0" anchor="ctr"/>
          <a:lstStyle/>
          <a:p>
            <a:pPr algn="r" indent="0" marL="0">
              <a:buNone/>
            </a:pPr>
            <a:r>
              <a:rPr lang="en-US" sz="1000" b="1" dirty="0">
                <a:solidFill>
                  <a:srgbClr val="475569"/>
                </a:solidFill>
                <a:latin typeface="Segoe UI" pitchFamily="34" charset="0"/>
                <a:ea typeface="Segoe UI" pitchFamily="34" charset="-122"/>
                <a:cs typeface="Segoe UI" pitchFamily="34" charset="-120"/>
              </a:rPr>
              <a:t>10 Pts</a:t>
            </a:r>
            <a:endParaRPr lang="en-US" sz="1000" dirty="0"/>
          </a:p>
        </p:txBody>
      </p:sp>
      <p:sp>
        <p:nvSpPr>
          <p:cNvPr id="26" name="Text 24"/>
          <p:cNvSpPr/>
          <p:nvPr/>
        </p:nvSpPr>
        <p:spPr>
          <a:xfrm>
            <a:off x="6583680" y="4297680"/>
            <a:ext cx="3657600" cy="320040"/>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ISO / Quality Certifications Bonus</a:t>
            </a:r>
            <a:endParaRPr lang="en-US" sz="1000" dirty="0"/>
          </a:p>
        </p:txBody>
      </p:sp>
      <p:sp>
        <p:nvSpPr>
          <p:cNvPr id="27" name="Text 25"/>
          <p:cNvSpPr/>
          <p:nvPr/>
        </p:nvSpPr>
        <p:spPr>
          <a:xfrm>
            <a:off x="10241280" y="4297680"/>
            <a:ext cx="914400" cy="320040"/>
          </a:xfrm>
          <a:prstGeom prst="rect">
            <a:avLst/>
          </a:prstGeom>
          <a:noFill/>
          <a:ln/>
        </p:spPr>
        <p:txBody>
          <a:bodyPr wrap="square" rtlCol="0" anchor="ctr"/>
          <a:lstStyle/>
          <a:p>
            <a:pPr algn="r" indent="0" marL="0">
              <a:buNone/>
            </a:pPr>
            <a:r>
              <a:rPr lang="en-US" sz="1000" b="1" dirty="0">
                <a:solidFill>
                  <a:srgbClr val="059669"/>
                </a:solidFill>
                <a:latin typeface="Segoe UI" pitchFamily="34" charset="0"/>
                <a:ea typeface="Segoe UI" pitchFamily="34" charset="-122"/>
                <a:cs typeface="Segoe UI" pitchFamily="34" charset="-120"/>
              </a:rPr>
              <a:t>10 Pts</a:t>
            </a:r>
            <a:endParaRPr lang="en-US" sz="1000" dirty="0"/>
          </a:p>
        </p:txBody>
      </p:sp>
      <p:sp>
        <p:nvSpPr>
          <p:cNvPr id="28" name="Shape 26"/>
          <p:cNvSpPr/>
          <p:nvPr/>
        </p:nvSpPr>
        <p:spPr>
          <a:xfrm>
            <a:off x="6583680" y="4754880"/>
            <a:ext cx="4572000" cy="1097280"/>
          </a:xfrm>
          <a:prstGeom prst="roundRect">
            <a:avLst>
              <a:gd name="adj" fmla="val 8333"/>
            </a:avLst>
          </a:prstGeom>
          <a:solidFill>
            <a:srgbClr val="FFF7ED"/>
          </a:solidFill>
          <a:ln w="12700">
            <a:solidFill>
              <a:srgbClr val="EA580C"/>
            </a:solidFill>
            <a:prstDash val="solid"/>
          </a:ln>
        </p:spPr>
      </p:sp>
      <p:sp>
        <p:nvSpPr>
          <p:cNvPr id="29" name="Text 27"/>
          <p:cNvSpPr/>
          <p:nvPr/>
        </p:nvSpPr>
        <p:spPr>
          <a:xfrm>
            <a:off x="6766560" y="4800600"/>
            <a:ext cx="4206240" cy="228600"/>
          </a:xfrm>
          <a:prstGeom prst="rect">
            <a:avLst/>
          </a:prstGeom>
          <a:noFill/>
          <a:ln/>
        </p:spPr>
        <p:txBody>
          <a:bodyPr wrap="square" rtlCol="0" anchor="ctr"/>
          <a:lstStyle/>
          <a:p>
            <a:pPr indent="0" marL="0">
              <a:buNone/>
            </a:pPr>
            <a:r>
              <a:rPr lang="en-US" sz="900" b="1" dirty="0">
                <a:solidFill>
                  <a:srgbClr val="C2410C"/>
                </a:solidFill>
                <a:latin typeface="Segoe UI" pitchFamily="34" charset="0"/>
                <a:ea typeface="Segoe UI" pitchFamily="34" charset="-122"/>
                <a:cs typeface="Segoe UI" pitchFamily="34" charset="-120"/>
              </a:rPr>
              <a:t>AUTOMATIC FRESHNESS DECAY (ANTI-STALE):</a:t>
            </a:r>
            <a:endParaRPr lang="en-US" sz="900" dirty="0"/>
          </a:p>
        </p:txBody>
      </p:sp>
      <p:sp>
        <p:nvSpPr>
          <p:cNvPr id="30" name="Text 28"/>
          <p:cNvSpPr/>
          <p:nvPr/>
        </p:nvSpPr>
        <p:spPr>
          <a:xfrm>
            <a:off x="6766560" y="5029200"/>
            <a:ext cx="4206240" cy="731520"/>
          </a:xfrm>
          <a:prstGeom prst="rect">
            <a:avLst/>
          </a:prstGeom>
          <a:noFill/>
          <a:ln/>
        </p:spPr>
        <p:txBody>
          <a:bodyPr wrap="square" rtlCol="0" anchor="ctr"/>
          <a:lstStyle/>
          <a:p>
            <a:pPr indent="0" marL="0">
              <a:buNone/>
            </a:pPr>
            <a:r>
              <a:rPr lang="en-US" sz="850" dirty="0">
                <a:solidFill>
                  <a:srgbClr val="475569"/>
                </a:solidFill>
                <a:latin typeface="Segoe UI" pitchFamily="34" charset="0"/>
                <a:ea typeface="Segoe UI" pitchFamily="34" charset="-122"/>
                <a:cs typeface="Segoe UI" pitchFamily="34" charset="-120"/>
              </a:rPr>
              <a:t>• &gt;90 Days: -5% Decay · &gt;180 Days: -15% Decay · &gt;365 Days: -30% (Badge Expired)</a:t>
            </a:r>
            <a:endParaRPr lang="en-US" sz="850" dirty="0"/>
          </a:p>
          <a:p>
            <a:pPr indent="0" marL="0">
              <a:buNone/>
            </a:pPr>
            <a:r>
              <a:rPr lang="en-US" sz="850" dirty="0">
                <a:solidFill>
                  <a:srgbClr val="475569"/>
                </a:solidFill>
                <a:latin typeface="Segoe UI" pitchFamily="34" charset="0"/>
                <a:ea typeface="Segoe UI" pitchFamily="34" charset="-122"/>
                <a:cs typeface="Segoe UI" pitchFamily="34" charset="-120"/>
              </a:rPr>
              <a:t>Trust is continuously earned through updated evidence, never permanent.</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65760"/>
            <a:ext cx="2286000" cy="320040"/>
          </a:xfrm>
          <a:prstGeom prst="roundRect">
            <a:avLst>
              <a:gd name="adj" fmla="val 42857"/>
            </a:avLst>
          </a:prstGeom>
          <a:solidFill>
            <a:srgbClr val="FFF7ED"/>
          </a:solidFill>
          <a:ln w="12700">
            <a:solidFill>
              <a:srgbClr val="EA580C"/>
            </a:solidFill>
            <a:prstDash val="solid"/>
          </a:ln>
        </p:spPr>
      </p:sp>
      <p:sp>
        <p:nvSpPr>
          <p:cNvPr id="3" name="Text 1"/>
          <p:cNvSpPr/>
          <p:nvPr/>
        </p:nvSpPr>
        <p:spPr>
          <a:xfrm>
            <a:off x="731520" y="365760"/>
            <a:ext cx="2286000" cy="320040"/>
          </a:xfrm>
          <a:prstGeom prst="rect">
            <a:avLst/>
          </a:prstGeom>
          <a:noFill/>
          <a:ln/>
        </p:spPr>
        <p:txBody>
          <a:bodyPr wrap="square" rtlCol="0" anchor="ctr"/>
          <a:lstStyle/>
          <a:p>
            <a:pPr algn="ctr" indent="0" marL="0">
              <a:buNone/>
            </a:pPr>
            <a:r>
              <a:rPr lang="en-US" sz="1000" b="1" dirty="0">
                <a:solidFill>
                  <a:srgbClr val="C2410C"/>
                </a:solidFill>
                <a:latin typeface="Segoe UI" pitchFamily="34" charset="0"/>
                <a:ea typeface="Segoe UI" pitchFamily="34" charset="-122"/>
                <a:cs typeface="Segoe UI" pitchFamily="34" charset="-120"/>
              </a:rPr>
              <a:t>MARKET OPPORTUNITY &amp; BEACHHEAD</a:t>
            </a:r>
            <a:endParaRPr lang="en-US" sz="1000" dirty="0"/>
          </a:p>
        </p:txBody>
      </p:sp>
      <p:sp>
        <p:nvSpPr>
          <p:cNvPr id="4" name="Text 2"/>
          <p:cNvSpPr/>
          <p:nvPr/>
        </p:nvSpPr>
        <p:spPr>
          <a:xfrm>
            <a:off x="731520" y="731520"/>
            <a:ext cx="10515600" cy="502920"/>
          </a:xfrm>
          <a:prstGeom prst="rect">
            <a:avLst/>
          </a:prstGeom>
          <a:noFill/>
          <a:ln/>
        </p:spPr>
        <p:txBody>
          <a:bodyPr wrap="square" rtlCol="0" anchor="ctr"/>
          <a:lstStyle/>
          <a:p>
            <a:pPr indent="0" marL="0">
              <a:buNone/>
            </a:pPr>
            <a:r>
              <a:rPr lang="en-US" sz="2200" b="1" dirty="0">
                <a:solidFill>
                  <a:srgbClr val="0F172A"/>
                </a:solidFill>
                <a:latin typeface="Segoe UI" pitchFamily="34" charset="0"/>
                <a:ea typeface="Segoe UI" pitchFamily="34" charset="-122"/>
                <a:cs typeface="Segoe UI" pitchFamily="34" charset="-120"/>
              </a:rPr>
              <a:t>₹2,600 Cr SAM. Launching in Makarpura GIDC, Vadodara.</a:t>
            </a:r>
            <a:endParaRPr lang="en-US" sz="2200" dirty="0"/>
          </a:p>
        </p:txBody>
      </p:sp>
      <p:sp>
        <p:nvSpPr>
          <p:cNvPr id="5" name="Text 3"/>
          <p:cNvSpPr/>
          <p:nvPr/>
        </p:nvSpPr>
        <p:spPr>
          <a:xfrm>
            <a:off x="731520" y="1234440"/>
            <a:ext cx="10515600" cy="320040"/>
          </a:xfrm>
          <a:prstGeom prst="rect">
            <a:avLst/>
          </a:prstGeom>
          <a:noFill/>
          <a:ln/>
        </p:spPr>
        <p:txBody>
          <a:bodyPr wrap="square" rtlCol="0" anchor="ctr"/>
          <a:lstStyle/>
          <a:p>
            <a:pPr indent="0" marL="0">
              <a:buNone/>
            </a:pPr>
            <a:r>
              <a:rPr lang="en-US" sz="1200" dirty="0">
                <a:solidFill>
                  <a:srgbClr val="475569"/>
                </a:solidFill>
                <a:latin typeface="Segoe UI" pitchFamily="34" charset="0"/>
                <a:ea typeface="Segoe UI" pitchFamily="34" charset="-122"/>
                <a:cs typeface="Segoe UI" pitchFamily="34" charset="-120"/>
              </a:rPr>
              <a:t>Saturating dense manufacturing clusters before scaling pan-India.</a:t>
            </a:r>
            <a:endParaRPr lang="en-US" sz="1200" dirty="0"/>
          </a:p>
        </p:txBody>
      </p:sp>
      <p:sp>
        <p:nvSpPr>
          <p:cNvPr id="6" name="Shape 4"/>
          <p:cNvSpPr/>
          <p:nvPr/>
        </p:nvSpPr>
        <p:spPr>
          <a:xfrm>
            <a:off x="731520" y="1645920"/>
            <a:ext cx="5029200" cy="4389120"/>
          </a:xfrm>
          <a:prstGeom prst="roundRect">
            <a:avLst>
              <a:gd name="adj" fmla="val 3125"/>
            </a:avLst>
          </a:prstGeom>
          <a:solidFill>
            <a:srgbClr val="FFFFFF"/>
          </a:solidFill>
          <a:ln w="19050">
            <a:solidFill>
              <a:srgbClr val="E2E8F0"/>
            </a:solidFill>
            <a:prstDash val="solid"/>
          </a:ln>
        </p:spPr>
      </p:sp>
      <p:sp>
        <p:nvSpPr>
          <p:cNvPr id="7" name="Text 5"/>
          <p:cNvSpPr/>
          <p:nvPr/>
        </p:nvSpPr>
        <p:spPr>
          <a:xfrm>
            <a:off x="1005840" y="1828800"/>
            <a:ext cx="4480560" cy="320040"/>
          </a:xfrm>
          <a:prstGeom prst="rect">
            <a:avLst/>
          </a:prstGeom>
          <a:noFill/>
          <a:ln/>
        </p:spPr>
        <p:txBody>
          <a:bodyPr wrap="square" rtlCol="0" anchor="ctr"/>
          <a:lstStyle/>
          <a:p>
            <a:pPr indent="0" marL="0">
              <a:buNone/>
            </a:pPr>
            <a:r>
              <a:rPr lang="en-US" sz="1300" b="1" dirty="0">
                <a:solidFill>
                  <a:srgbClr val="EA580C"/>
                </a:solidFill>
                <a:latin typeface="Segoe UI" pitchFamily="34" charset="0"/>
                <a:ea typeface="Segoe UI" pitchFamily="34" charset="-122"/>
                <a:cs typeface="Segoe UI" pitchFamily="34" charset="-120"/>
              </a:rPr>
              <a:t>MARKET SIZE SIZING (VERIFIED DATA)</a:t>
            </a:r>
            <a:endParaRPr lang="en-US" sz="1300" dirty="0"/>
          </a:p>
        </p:txBody>
      </p:sp>
      <p:sp>
        <p:nvSpPr>
          <p:cNvPr id="8" name="Shape 6"/>
          <p:cNvSpPr/>
          <p:nvPr/>
        </p:nvSpPr>
        <p:spPr>
          <a:xfrm>
            <a:off x="1005840" y="2240280"/>
            <a:ext cx="4480560" cy="1005840"/>
          </a:xfrm>
          <a:prstGeom prst="roundRect">
            <a:avLst>
              <a:gd name="adj" fmla="val 9091"/>
            </a:avLst>
          </a:prstGeom>
          <a:solidFill>
            <a:srgbClr val="EFF6FF"/>
          </a:solidFill>
          <a:ln w="12700">
            <a:solidFill>
              <a:srgbClr val="2563EB"/>
            </a:solidFill>
            <a:prstDash val="solid"/>
          </a:ln>
        </p:spPr>
      </p:sp>
      <p:sp>
        <p:nvSpPr>
          <p:cNvPr id="9" name="Text 7"/>
          <p:cNvSpPr/>
          <p:nvPr/>
        </p:nvSpPr>
        <p:spPr>
          <a:xfrm>
            <a:off x="1143000" y="2286000"/>
            <a:ext cx="4206240" cy="320040"/>
          </a:xfrm>
          <a:prstGeom prst="rect">
            <a:avLst/>
          </a:prstGeom>
          <a:noFill/>
          <a:ln/>
        </p:spPr>
        <p:txBody>
          <a:bodyPr wrap="square" rtlCol="0" anchor="ctr"/>
          <a:lstStyle/>
          <a:p>
            <a:pPr indent="0" marL="0">
              <a:buNone/>
            </a:pPr>
            <a:r>
              <a:rPr lang="en-US" sz="1200" b="1" dirty="0">
                <a:solidFill>
                  <a:srgbClr val="2563EB"/>
                </a:solidFill>
                <a:latin typeface="Segoe UI" pitchFamily="34" charset="0"/>
                <a:ea typeface="Segoe UI" pitchFamily="34" charset="-122"/>
                <a:cs typeface="Segoe UI" pitchFamily="34" charset="-120"/>
              </a:rPr>
              <a:t>TAM: $12.0+ BILLION</a:t>
            </a:r>
            <a:endParaRPr lang="en-US" sz="1200" dirty="0"/>
          </a:p>
        </p:txBody>
      </p:sp>
      <p:sp>
        <p:nvSpPr>
          <p:cNvPr id="10" name="Text 8"/>
          <p:cNvSpPr/>
          <p:nvPr/>
        </p:nvSpPr>
        <p:spPr>
          <a:xfrm>
            <a:off x="1143000" y="2606040"/>
            <a:ext cx="4206240" cy="548640"/>
          </a:xfrm>
          <a:prstGeom prst="rect">
            <a:avLst/>
          </a:prstGeom>
          <a:noFill/>
          <a:ln/>
        </p:spPr>
        <p:txBody>
          <a:bodyPr wrap="square" rtlCol="0" anchor="t"/>
          <a:lstStyle/>
          <a:p>
            <a:pPr indent="0" marL="0">
              <a:buNone/>
            </a:pPr>
            <a:r>
              <a:rPr lang="en-US" sz="950" dirty="0">
                <a:solidFill>
                  <a:srgbClr val="475569"/>
                </a:solidFill>
                <a:latin typeface="Segoe UI" pitchFamily="34" charset="0"/>
                <a:ea typeface="Segoe UI" pitchFamily="34" charset="-122"/>
                <a:cs typeface="Segoe UI" pitchFamily="34" charset="-120"/>
              </a:rPr>
              <a:t>Global Supplier Verification, KYB &amp; Sourcing Software Market</a:t>
            </a:r>
            <a:endParaRPr lang="en-US" sz="950" dirty="0"/>
          </a:p>
        </p:txBody>
      </p:sp>
      <p:sp>
        <p:nvSpPr>
          <p:cNvPr id="11" name="Shape 9"/>
          <p:cNvSpPr/>
          <p:nvPr/>
        </p:nvSpPr>
        <p:spPr>
          <a:xfrm>
            <a:off x="1005840" y="3383280"/>
            <a:ext cx="4480560" cy="1005840"/>
          </a:xfrm>
          <a:prstGeom prst="roundRect">
            <a:avLst>
              <a:gd name="adj" fmla="val 9091"/>
            </a:avLst>
          </a:prstGeom>
          <a:solidFill>
            <a:srgbClr val="ECFDF5"/>
          </a:solidFill>
          <a:ln w="12700">
            <a:solidFill>
              <a:srgbClr val="059669"/>
            </a:solidFill>
            <a:prstDash val="solid"/>
          </a:ln>
        </p:spPr>
      </p:sp>
      <p:sp>
        <p:nvSpPr>
          <p:cNvPr id="12" name="Text 10"/>
          <p:cNvSpPr/>
          <p:nvPr/>
        </p:nvSpPr>
        <p:spPr>
          <a:xfrm>
            <a:off x="1143000" y="3429000"/>
            <a:ext cx="4206240" cy="320040"/>
          </a:xfrm>
          <a:prstGeom prst="rect">
            <a:avLst/>
          </a:prstGeom>
          <a:noFill/>
          <a:ln/>
        </p:spPr>
        <p:txBody>
          <a:bodyPr wrap="square" rtlCol="0" anchor="ctr"/>
          <a:lstStyle/>
          <a:p>
            <a:pPr indent="0" marL="0">
              <a:buNone/>
            </a:pPr>
            <a:r>
              <a:rPr lang="en-US" sz="1200" b="1" dirty="0">
                <a:solidFill>
                  <a:srgbClr val="059669"/>
                </a:solidFill>
                <a:latin typeface="Segoe UI" pitchFamily="34" charset="0"/>
                <a:ea typeface="Segoe UI" pitchFamily="34" charset="-122"/>
                <a:cs typeface="Segoe UI" pitchFamily="34" charset="-120"/>
              </a:rPr>
              <a:t>SAM: ₹2,600 CRORE ($310M)</a:t>
            </a:r>
            <a:endParaRPr lang="en-US" sz="1200" dirty="0"/>
          </a:p>
        </p:txBody>
      </p:sp>
      <p:sp>
        <p:nvSpPr>
          <p:cNvPr id="13" name="Text 11"/>
          <p:cNvSpPr/>
          <p:nvPr/>
        </p:nvSpPr>
        <p:spPr>
          <a:xfrm>
            <a:off x="1143000" y="3749040"/>
            <a:ext cx="4206240" cy="548640"/>
          </a:xfrm>
          <a:prstGeom prst="rect">
            <a:avLst/>
          </a:prstGeom>
          <a:noFill/>
          <a:ln/>
        </p:spPr>
        <p:txBody>
          <a:bodyPr wrap="square" rtlCol="0" anchor="t"/>
          <a:lstStyle/>
          <a:p>
            <a:pPr indent="0" marL="0">
              <a:buNone/>
            </a:pPr>
            <a:r>
              <a:rPr lang="en-US" sz="950" dirty="0">
                <a:solidFill>
                  <a:srgbClr val="475569"/>
                </a:solidFill>
                <a:latin typeface="Segoe UI" pitchFamily="34" charset="0"/>
                <a:ea typeface="Segoe UI" pitchFamily="34" charset="-122"/>
                <a:cs typeface="Segoe UI" pitchFamily="34" charset="-120"/>
              </a:rPr>
              <a:t>1,73,350 Actively Exporting Indian MSMEs × Avg ₹15K/yr Verification + Buyer Sourcing Subscriptions</a:t>
            </a:r>
            <a:endParaRPr lang="en-US" sz="950" dirty="0"/>
          </a:p>
        </p:txBody>
      </p:sp>
      <p:sp>
        <p:nvSpPr>
          <p:cNvPr id="14" name="Shape 12"/>
          <p:cNvSpPr/>
          <p:nvPr/>
        </p:nvSpPr>
        <p:spPr>
          <a:xfrm>
            <a:off x="1005840" y="4526280"/>
            <a:ext cx="4480560" cy="1005840"/>
          </a:xfrm>
          <a:prstGeom prst="roundRect">
            <a:avLst>
              <a:gd name="adj" fmla="val 9091"/>
            </a:avLst>
          </a:prstGeom>
          <a:solidFill>
            <a:srgbClr val="FFF7ED"/>
          </a:solidFill>
          <a:ln w="12700">
            <a:solidFill>
              <a:srgbClr val="EA580C"/>
            </a:solidFill>
            <a:prstDash val="solid"/>
          </a:ln>
        </p:spPr>
      </p:sp>
      <p:sp>
        <p:nvSpPr>
          <p:cNvPr id="15" name="Text 13"/>
          <p:cNvSpPr/>
          <p:nvPr/>
        </p:nvSpPr>
        <p:spPr>
          <a:xfrm>
            <a:off x="1143000" y="4572000"/>
            <a:ext cx="4206240" cy="320040"/>
          </a:xfrm>
          <a:prstGeom prst="rect">
            <a:avLst/>
          </a:prstGeom>
          <a:noFill/>
          <a:ln/>
        </p:spPr>
        <p:txBody>
          <a:bodyPr wrap="square" rtlCol="0" anchor="ctr"/>
          <a:lstStyle/>
          <a:p>
            <a:pPr indent="0" marL="0">
              <a:buNone/>
            </a:pPr>
            <a:r>
              <a:rPr lang="en-US" sz="1200" b="1" dirty="0">
                <a:solidFill>
                  <a:srgbClr val="EA580C"/>
                </a:solidFill>
                <a:latin typeface="Segoe UI" pitchFamily="34" charset="0"/>
                <a:ea typeface="Segoe UI" pitchFamily="34" charset="-122"/>
                <a:cs typeface="Segoe UI" pitchFamily="34" charset="-120"/>
              </a:rPr>
              <a:t>SOM: ₹50 LAKH ARR (YEAR 1)</a:t>
            </a:r>
            <a:endParaRPr lang="en-US" sz="1200" dirty="0"/>
          </a:p>
        </p:txBody>
      </p:sp>
      <p:sp>
        <p:nvSpPr>
          <p:cNvPr id="16" name="Text 14"/>
          <p:cNvSpPr/>
          <p:nvPr/>
        </p:nvSpPr>
        <p:spPr>
          <a:xfrm>
            <a:off x="1143000" y="4892040"/>
            <a:ext cx="4206240" cy="548640"/>
          </a:xfrm>
          <a:prstGeom prst="rect">
            <a:avLst/>
          </a:prstGeom>
          <a:noFill/>
          <a:ln/>
        </p:spPr>
        <p:txBody>
          <a:bodyPr wrap="square" rtlCol="0" anchor="t"/>
          <a:lstStyle/>
          <a:p>
            <a:pPr indent="0" marL="0">
              <a:buNone/>
            </a:pPr>
            <a:r>
              <a:rPr lang="en-US" sz="950" dirty="0">
                <a:solidFill>
                  <a:srgbClr val="475569"/>
                </a:solidFill>
                <a:latin typeface="Segoe UI" pitchFamily="34" charset="0"/>
                <a:ea typeface="Segoe UI" pitchFamily="34" charset="-122"/>
                <a:cs typeface="Segoe UI" pitchFamily="34" charset="-120"/>
              </a:rPr>
              <a:t>500 Verified Factories in Gujarat + 20 Active International Mid-Market Procurement Desks</a:t>
            </a:r>
            <a:endParaRPr lang="en-US" sz="950" dirty="0"/>
          </a:p>
        </p:txBody>
      </p:sp>
      <p:sp>
        <p:nvSpPr>
          <p:cNvPr id="17" name="Shape 15"/>
          <p:cNvSpPr/>
          <p:nvPr/>
        </p:nvSpPr>
        <p:spPr>
          <a:xfrm>
            <a:off x="6035040" y="1645920"/>
            <a:ext cx="5394960" cy="4389120"/>
          </a:xfrm>
          <a:prstGeom prst="roundRect">
            <a:avLst>
              <a:gd name="adj" fmla="val 3125"/>
            </a:avLst>
          </a:prstGeom>
          <a:solidFill>
            <a:srgbClr val="FFFFFF"/>
          </a:solidFill>
          <a:ln w="19050">
            <a:solidFill>
              <a:srgbClr val="E2E8F0"/>
            </a:solidFill>
            <a:prstDash val="solid"/>
          </a:ln>
        </p:spPr>
      </p:sp>
      <p:sp>
        <p:nvSpPr>
          <p:cNvPr id="18" name="Text 16"/>
          <p:cNvSpPr/>
          <p:nvPr/>
        </p:nvSpPr>
        <p:spPr>
          <a:xfrm>
            <a:off x="6309360" y="1828800"/>
            <a:ext cx="4846320" cy="320040"/>
          </a:xfrm>
          <a:prstGeom prst="rect">
            <a:avLst/>
          </a:prstGeom>
          <a:noFill/>
          <a:ln/>
        </p:spPr>
        <p:txBody>
          <a:bodyPr wrap="square" rtlCol="0" anchor="ctr"/>
          <a:lstStyle/>
          <a:p>
            <a:pPr indent="0" marL="0">
              <a:buNone/>
            </a:pPr>
            <a:r>
              <a:rPr lang="en-US" sz="1300" b="1" dirty="0">
                <a:solidFill>
                  <a:srgbClr val="0F172A"/>
                </a:solidFill>
                <a:latin typeface="Segoe UI" pitchFamily="34" charset="0"/>
                <a:ea typeface="Segoe UI" pitchFamily="34" charset="-122"/>
                <a:cs typeface="Segoe UI" pitchFamily="34" charset="-120"/>
              </a:rPr>
              <a:t>WHY GUJARAT &amp; MAKARPURA GIDC?</a:t>
            </a:r>
            <a:endParaRPr lang="en-US" sz="1300" dirty="0"/>
          </a:p>
        </p:txBody>
      </p:sp>
      <p:sp>
        <p:nvSpPr>
          <p:cNvPr id="19" name="Text 17"/>
          <p:cNvSpPr/>
          <p:nvPr/>
        </p:nvSpPr>
        <p:spPr>
          <a:xfrm>
            <a:off x="6309360" y="2240280"/>
            <a:ext cx="4846320" cy="2011680"/>
          </a:xfrm>
          <a:prstGeom prst="rect">
            <a:avLst/>
          </a:prstGeom>
          <a:noFill/>
          <a:ln/>
        </p:spPr>
        <p:txBody>
          <a:bodyPr wrap="square" rtlCol="0" anchor="t"/>
          <a:lstStyle/>
          <a:p>
            <a:pPr marL="342900" indent="-342900">
              <a:buSzPct val="100000"/>
              <a:buChar char="•"/>
            </a:pPr>
            <a:r>
              <a:rPr lang="en-US" sz="1050" dirty="0">
                <a:solidFill>
                  <a:srgbClr val="475569"/>
                </a:solidFill>
                <a:latin typeface="Segoe UI" pitchFamily="34" charset="0"/>
                <a:ea typeface="Segoe UI" pitchFamily="34" charset="-122"/>
                <a:cs typeface="Segoe UI" pitchFamily="34" charset="-120"/>
              </a:rPr>
              <a:t>Gujarat accounts for 25.6% of India’s total merchandise exports ($110.63B in FY26)
</a:t>
            </a:r>
            <a:endParaRPr lang="en-US" sz="1050" dirty="0"/>
          </a:p>
          <a:p>
            <a:pPr marL="342900" indent="-342900">
              <a:buSzPct val="100000"/>
              <a:buChar char="•"/>
            </a:pPr>
            <a:r>
              <a:rPr lang="en-US" sz="1050" dirty="0">
                <a:solidFill>
                  <a:srgbClr val="475569"/>
                </a:solidFill>
                <a:latin typeface="Segoe UI" pitchFamily="34" charset="0"/>
                <a:ea typeface="Segoe UI" pitchFamily="34" charset="-122"/>
                <a:cs typeface="Segoe UI" pitchFamily="34" charset="-120"/>
              </a:rPr>
              <a:t>239+ GIDC industrial estates with world-class specialized clusters
</a:t>
            </a:r>
            <a:endParaRPr lang="en-US" sz="1050" dirty="0"/>
          </a:p>
          <a:p>
            <a:pPr marL="342900" indent="-342900">
              <a:buSzPct val="100000"/>
              <a:buChar char="•"/>
            </a:pPr>
            <a:r>
              <a:rPr lang="en-US" sz="1050" dirty="0">
                <a:solidFill>
                  <a:srgbClr val="475569"/>
                </a:solidFill>
                <a:latin typeface="Segoe UI" pitchFamily="34" charset="0"/>
                <a:ea typeface="Segoe UI" pitchFamily="34" charset="-122"/>
                <a:cs typeface="Segoe UI" pitchFamily="34" charset="-120"/>
              </a:rPr>
              <a:t>Makarpura GIDC (Vadodara) is 40 min from Parul University campus
</a:t>
            </a:r>
            <a:endParaRPr lang="en-US" sz="1050" dirty="0"/>
          </a:p>
          <a:p>
            <a:pPr marL="342900" indent="-342900">
              <a:buSzPct val="100000"/>
              <a:buChar char="•"/>
            </a:pPr>
            <a:r>
              <a:rPr lang="en-US" sz="1050" dirty="0">
                <a:solidFill>
                  <a:srgbClr val="475569"/>
                </a:solidFill>
                <a:latin typeface="Segoe UI" pitchFamily="34" charset="0"/>
                <a:ea typeface="Segoe UI" pitchFamily="34" charset="-122"/>
                <a:cs typeface="Segoe UI" pitchFamily="34" charset="-120"/>
              </a:rPr>
              <a:t>Target Wedge: Precision Engineering, Electrical Panels, and PCB Assemblies
</a:t>
            </a:r>
            <a:endParaRPr lang="en-US" sz="1050" dirty="0"/>
          </a:p>
        </p:txBody>
      </p:sp>
      <p:sp>
        <p:nvSpPr>
          <p:cNvPr id="20" name="Shape 18"/>
          <p:cNvSpPr/>
          <p:nvPr/>
        </p:nvSpPr>
        <p:spPr>
          <a:xfrm>
            <a:off x="6309360" y="4297680"/>
            <a:ext cx="4846320" cy="1554480"/>
          </a:xfrm>
          <a:prstGeom prst="roundRect">
            <a:avLst>
              <a:gd name="adj" fmla="val 5882"/>
            </a:avLst>
          </a:prstGeom>
          <a:solidFill>
            <a:srgbClr val="F1F5F9"/>
          </a:solidFill>
          <a:ln w="12700">
            <a:solidFill>
              <a:srgbClr val="CBD5E1"/>
            </a:solidFill>
            <a:prstDash val="solid"/>
          </a:ln>
        </p:spPr>
      </p:sp>
      <p:sp>
        <p:nvSpPr>
          <p:cNvPr id="21" name="Text 19"/>
          <p:cNvSpPr/>
          <p:nvPr/>
        </p:nvSpPr>
        <p:spPr>
          <a:xfrm>
            <a:off x="6492240" y="4389120"/>
            <a:ext cx="4480560" cy="22860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HYPER-LOCAL PILOT EXECUTION:</a:t>
            </a:r>
            <a:endParaRPr lang="en-US" sz="1000" dirty="0"/>
          </a:p>
        </p:txBody>
      </p:sp>
      <p:sp>
        <p:nvSpPr>
          <p:cNvPr id="22" name="Text 20"/>
          <p:cNvSpPr/>
          <p:nvPr/>
        </p:nvSpPr>
        <p:spPr>
          <a:xfrm>
            <a:off x="6492240" y="4663440"/>
            <a:ext cx="4480560" cy="1097280"/>
          </a:xfrm>
          <a:prstGeom prst="rect">
            <a:avLst/>
          </a:prstGeom>
          <a:noFill/>
          <a:ln/>
        </p:spPr>
        <p:txBody>
          <a:bodyPr wrap="square" rtlCol="0" anchor="ctr"/>
          <a:lstStyle/>
          <a:p>
            <a:pPr indent="0" marL="0">
              <a:buNone/>
            </a:pPr>
            <a:r>
              <a:rPr lang="en-US" sz="950" dirty="0">
                <a:solidFill>
                  <a:srgbClr val="475569"/>
                </a:solidFill>
                <a:latin typeface="Segoe UI" pitchFamily="34" charset="0"/>
                <a:ea typeface="Segoe UI" pitchFamily="34" charset="-122"/>
                <a:cs typeface="Segoe UI" pitchFamily="34" charset="-120"/>
              </a:rPr>
              <a:t>Density beats breadth. Sourcing directors prefer 50 verified factories in one specific cluster (Makarpura Electricals) rather than 5 scattered across India. We saturate one cluster, prove the flywheel, then replicate to Ankleshwar (Chemicals) &amp; Rajkot (Machining).</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65760"/>
            <a:ext cx="2286000" cy="320040"/>
          </a:xfrm>
          <a:prstGeom prst="roundRect">
            <a:avLst>
              <a:gd name="adj" fmla="val 42857"/>
            </a:avLst>
          </a:prstGeom>
          <a:solidFill>
            <a:srgbClr val="FFF7ED"/>
          </a:solidFill>
          <a:ln w="12700">
            <a:solidFill>
              <a:srgbClr val="EA580C"/>
            </a:solidFill>
            <a:prstDash val="solid"/>
          </a:ln>
        </p:spPr>
      </p:sp>
      <p:sp>
        <p:nvSpPr>
          <p:cNvPr id="3" name="Text 1"/>
          <p:cNvSpPr/>
          <p:nvPr/>
        </p:nvSpPr>
        <p:spPr>
          <a:xfrm>
            <a:off x="731520" y="365760"/>
            <a:ext cx="2286000" cy="320040"/>
          </a:xfrm>
          <a:prstGeom prst="rect">
            <a:avLst/>
          </a:prstGeom>
          <a:noFill/>
          <a:ln/>
        </p:spPr>
        <p:txBody>
          <a:bodyPr wrap="square" rtlCol="0" anchor="ctr"/>
          <a:lstStyle/>
          <a:p>
            <a:pPr algn="ctr" indent="0" marL="0">
              <a:buNone/>
            </a:pPr>
            <a:r>
              <a:rPr lang="en-US" sz="1000" b="1" dirty="0">
                <a:solidFill>
                  <a:srgbClr val="C2410C"/>
                </a:solidFill>
                <a:latin typeface="Segoe UI" pitchFamily="34" charset="0"/>
                <a:ea typeface="Segoe UI" pitchFamily="34" charset="-122"/>
                <a:cs typeface="Segoe UI" pitchFamily="34" charset="-120"/>
              </a:rPr>
              <a:t>MONETIZATION STRATEGY</a:t>
            </a:r>
            <a:endParaRPr lang="en-US" sz="1000" dirty="0"/>
          </a:p>
        </p:txBody>
      </p:sp>
      <p:sp>
        <p:nvSpPr>
          <p:cNvPr id="4" name="Text 2"/>
          <p:cNvSpPr/>
          <p:nvPr/>
        </p:nvSpPr>
        <p:spPr>
          <a:xfrm>
            <a:off x="731520" y="731520"/>
            <a:ext cx="10515600" cy="502920"/>
          </a:xfrm>
          <a:prstGeom prst="rect">
            <a:avLst/>
          </a:prstGeom>
          <a:noFill/>
          <a:ln/>
        </p:spPr>
        <p:txBody>
          <a:bodyPr wrap="square" rtlCol="0" anchor="ctr"/>
          <a:lstStyle/>
          <a:p>
            <a:pPr indent="0" marL="0">
              <a:buNone/>
            </a:pPr>
            <a:r>
              <a:rPr lang="en-US" sz="2200" b="1" dirty="0">
                <a:solidFill>
                  <a:srgbClr val="0F172A"/>
                </a:solidFill>
                <a:latin typeface="Segoe UI" pitchFamily="34" charset="0"/>
                <a:ea typeface="Segoe UI" pitchFamily="34" charset="-122"/>
                <a:cs typeface="Segoe UI" pitchFamily="34" charset="-120"/>
              </a:rPr>
              <a:t>Business Model: Asymmetric Verification Pricing</a:t>
            </a:r>
            <a:endParaRPr lang="en-US" sz="2200" dirty="0"/>
          </a:p>
        </p:txBody>
      </p:sp>
      <p:sp>
        <p:nvSpPr>
          <p:cNvPr id="5" name="Text 3"/>
          <p:cNvSpPr/>
          <p:nvPr/>
        </p:nvSpPr>
        <p:spPr>
          <a:xfrm>
            <a:off x="731520" y="1234440"/>
            <a:ext cx="10515600" cy="320040"/>
          </a:xfrm>
          <a:prstGeom prst="rect">
            <a:avLst/>
          </a:prstGeom>
          <a:noFill/>
          <a:ln/>
        </p:spPr>
        <p:txBody>
          <a:bodyPr wrap="square" rtlCol="0" anchor="ctr"/>
          <a:lstStyle/>
          <a:p>
            <a:pPr indent="0" marL="0">
              <a:buNone/>
            </a:pPr>
            <a:r>
              <a:rPr lang="en-US" sz="1200" dirty="0">
                <a:solidFill>
                  <a:srgbClr val="475569"/>
                </a:solidFill>
                <a:latin typeface="Segoe UI" pitchFamily="34" charset="0"/>
                <a:ea typeface="Segoe UI" pitchFamily="34" charset="-122"/>
                <a:cs typeface="Segoe UI" pitchFamily="34" charset="-120"/>
              </a:rPr>
              <a:t>Monetizing un-purchasable trust audits, not paid ad positioning.</a:t>
            </a:r>
            <a:endParaRPr lang="en-US" sz="1200" dirty="0"/>
          </a:p>
        </p:txBody>
      </p:sp>
      <p:sp>
        <p:nvSpPr>
          <p:cNvPr id="6" name="Shape 4"/>
          <p:cNvSpPr/>
          <p:nvPr/>
        </p:nvSpPr>
        <p:spPr>
          <a:xfrm>
            <a:off x="731520" y="1645920"/>
            <a:ext cx="2560320" cy="3383280"/>
          </a:xfrm>
          <a:prstGeom prst="roundRect">
            <a:avLst>
              <a:gd name="adj" fmla="val 5357"/>
            </a:avLst>
          </a:prstGeom>
          <a:solidFill>
            <a:srgbClr val="FFFFFF"/>
          </a:solidFill>
          <a:ln w="19050">
            <a:solidFill>
              <a:srgbClr val="E2E8F0"/>
            </a:solidFill>
            <a:prstDash val="solid"/>
          </a:ln>
        </p:spPr>
      </p:sp>
      <p:sp>
        <p:nvSpPr>
          <p:cNvPr id="7" name="Text 5"/>
          <p:cNvSpPr/>
          <p:nvPr/>
        </p:nvSpPr>
        <p:spPr>
          <a:xfrm>
            <a:off x="914400" y="1828800"/>
            <a:ext cx="2194560" cy="274320"/>
          </a:xfrm>
          <a:prstGeom prst="rect">
            <a:avLst/>
          </a:prstGeom>
          <a:noFill/>
          <a:ln/>
        </p:spPr>
        <p:txBody>
          <a:bodyPr wrap="square" rtlCol="0" anchor="ctr"/>
          <a:lstStyle/>
          <a:p>
            <a:pPr algn="ctr" indent="0" marL="0">
              <a:buNone/>
            </a:pPr>
            <a:r>
              <a:rPr lang="en-US" sz="1000" b="1" dirty="0">
                <a:solidFill>
                  <a:srgbClr val="64748B"/>
                </a:solidFill>
                <a:latin typeface="Segoe UI" pitchFamily="34" charset="0"/>
                <a:ea typeface="Segoe UI" pitchFamily="34" charset="-122"/>
                <a:cs typeface="Segoe UI" pitchFamily="34" charset="-120"/>
              </a:rPr>
              <a:t>TIER 1: LISTED</a:t>
            </a:r>
            <a:endParaRPr lang="en-US" sz="1000" dirty="0"/>
          </a:p>
        </p:txBody>
      </p:sp>
      <p:sp>
        <p:nvSpPr>
          <p:cNvPr id="8" name="Text 6"/>
          <p:cNvSpPr/>
          <p:nvPr/>
        </p:nvSpPr>
        <p:spPr>
          <a:xfrm>
            <a:off x="914400" y="2103120"/>
            <a:ext cx="2194560" cy="365760"/>
          </a:xfrm>
          <a:prstGeom prst="rect">
            <a:avLst/>
          </a:prstGeom>
          <a:noFill/>
          <a:ln/>
        </p:spPr>
        <p:txBody>
          <a:bodyPr wrap="square" rtlCol="0" anchor="ctr"/>
          <a:lstStyle/>
          <a:p>
            <a:pPr algn="ctr" indent="0" marL="0">
              <a:buNone/>
            </a:pPr>
            <a:r>
              <a:rPr lang="en-US" sz="1800" b="1" dirty="0">
                <a:solidFill>
                  <a:srgbClr val="0F172A"/>
                </a:solidFill>
                <a:latin typeface="Segoe UI" pitchFamily="34" charset="0"/>
                <a:ea typeface="Segoe UI" pitchFamily="34" charset="-122"/>
                <a:cs typeface="Segoe UI" pitchFamily="34" charset="-120"/>
              </a:rPr>
              <a:t>FREE</a:t>
            </a:r>
            <a:endParaRPr lang="en-US" sz="1800" dirty="0"/>
          </a:p>
        </p:txBody>
      </p:sp>
      <p:sp>
        <p:nvSpPr>
          <p:cNvPr id="9" name="Text 7"/>
          <p:cNvSpPr/>
          <p:nvPr/>
        </p:nvSpPr>
        <p:spPr>
          <a:xfrm>
            <a:off x="914400" y="2468880"/>
            <a:ext cx="2194560" cy="274320"/>
          </a:xfrm>
          <a:prstGeom prst="rect">
            <a:avLst/>
          </a:prstGeom>
          <a:noFill/>
          <a:ln/>
        </p:spPr>
        <p:txBody>
          <a:bodyPr wrap="square" rtlCol="0" anchor="ctr"/>
          <a:lstStyle/>
          <a:p>
            <a:pPr algn="ctr" indent="0" marL="0">
              <a:buNone/>
            </a:pPr>
            <a:r>
              <a:rPr lang="en-US" sz="850" dirty="0">
                <a:solidFill>
                  <a:srgbClr val="64748B"/>
                </a:solidFill>
                <a:latin typeface="Segoe UI" pitchFamily="34" charset="0"/>
                <a:ea typeface="Segoe UI" pitchFamily="34" charset="-122"/>
                <a:cs typeface="Segoe UI" pitchFamily="34" charset="-120"/>
              </a:rPr>
              <a:t>Self-Declared Directory</a:t>
            </a:r>
            <a:endParaRPr lang="en-US" sz="850" dirty="0"/>
          </a:p>
        </p:txBody>
      </p:sp>
      <p:sp>
        <p:nvSpPr>
          <p:cNvPr id="10" name="Shape 8"/>
          <p:cNvSpPr/>
          <p:nvPr/>
        </p:nvSpPr>
        <p:spPr>
          <a:xfrm>
            <a:off x="914400" y="2788920"/>
            <a:ext cx="2194560" cy="0"/>
          </a:xfrm>
          <a:prstGeom prst="line">
            <a:avLst/>
          </a:prstGeom>
          <a:noFill/>
          <a:ln w="12700">
            <a:solidFill>
              <a:srgbClr val="E2E8F0"/>
            </a:solidFill>
            <a:prstDash val="solid"/>
          </a:ln>
        </p:spPr>
      </p:sp>
      <p:sp>
        <p:nvSpPr>
          <p:cNvPr id="11" name="Text 9"/>
          <p:cNvSpPr/>
          <p:nvPr/>
        </p:nvSpPr>
        <p:spPr>
          <a:xfrm>
            <a:off x="914400" y="2880360"/>
            <a:ext cx="2194560" cy="2011680"/>
          </a:xfrm>
          <a:prstGeom prst="rect">
            <a:avLst/>
          </a:prstGeom>
          <a:noFill/>
          <a:ln/>
        </p:spPr>
        <p:txBody>
          <a:bodyPr wrap="square" rtlCol="0" anchor="t"/>
          <a:lstStyle/>
          <a:p>
            <a:pPr marL="342900" indent="-342900">
              <a:buSzPct val="100000"/>
              <a:buChar char="•"/>
            </a:pPr>
            <a:r>
              <a:rPr lang="en-US" sz="950" dirty="0">
                <a:solidFill>
                  <a:srgbClr val="475569"/>
                </a:solidFill>
                <a:latin typeface="Segoe UI" pitchFamily="34" charset="0"/>
                <a:ea typeface="Segoe UI" pitchFamily="34" charset="-122"/>
                <a:cs typeface="Segoe UI" pitchFamily="34" charset="-120"/>
              </a:rPr>
              <a:t>Email + Phone OTP check
</a:t>
            </a:r>
            <a:endParaRPr lang="en-US" sz="950" dirty="0"/>
          </a:p>
          <a:p>
            <a:pPr marL="342900" indent="-342900">
              <a:buSzPct val="100000"/>
              <a:buChar char="•"/>
            </a:pPr>
            <a:r>
              <a:rPr lang="en-US" sz="950" dirty="0">
                <a:solidFill>
                  <a:srgbClr val="475569"/>
                </a:solidFill>
                <a:latin typeface="Segoe UI" pitchFamily="34" charset="0"/>
                <a:ea typeface="Segoe UI" pitchFamily="34" charset="-122"/>
                <a:cs typeface="Segoe UI" pitchFamily="34" charset="-120"/>
              </a:rPr>
              <a:t>Self-declared capacity
</a:t>
            </a:r>
            <a:endParaRPr lang="en-US" sz="950" dirty="0"/>
          </a:p>
          <a:p>
            <a:pPr marL="342900" indent="-342900">
              <a:buSzPct val="100000"/>
              <a:buChar char="•"/>
            </a:pPr>
            <a:r>
              <a:rPr lang="en-US" sz="950" dirty="0">
                <a:solidFill>
                  <a:srgbClr val="475569"/>
                </a:solidFill>
                <a:latin typeface="Segoe UI" pitchFamily="34" charset="0"/>
                <a:ea typeface="Segoe UI" pitchFamily="34" charset="-122"/>
                <a:cs typeface="Segoe UI" pitchFamily="34" charset="-120"/>
              </a:rPr>
              <a:t>Basic discovery listing
</a:t>
            </a:r>
            <a:endParaRPr lang="en-US" sz="950" dirty="0"/>
          </a:p>
          <a:p>
            <a:pPr marL="342900" indent="-342900">
              <a:buSzPct val="100000"/>
              <a:buChar char="•"/>
            </a:pPr>
            <a:r>
              <a:rPr lang="en-US" sz="950" dirty="0">
                <a:solidFill>
                  <a:srgbClr val="475569"/>
                </a:solidFill>
                <a:latin typeface="Segoe UI" pitchFamily="34" charset="0"/>
                <a:ea typeface="Segoe UI" pitchFamily="34" charset="-122"/>
                <a:cs typeface="Segoe UI" pitchFamily="34" charset="-120"/>
              </a:rPr>
              <a:t>No trust badge
</a:t>
            </a:r>
            <a:endParaRPr lang="en-US" sz="950" dirty="0"/>
          </a:p>
        </p:txBody>
      </p:sp>
      <p:sp>
        <p:nvSpPr>
          <p:cNvPr id="12" name="Shape 10"/>
          <p:cNvSpPr/>
          <p:nvPr/>
        </p:nvSpPr>
        <p:spPr>
          <a:xfrm>
            <a:off x="3474720" y="1645920"/>
            <a:ext cx="2560320" cy="3383280"/>
          </a:xfrm>
          <a:prstGeom prst="roundRect">
            <a:avLst>
              <a:gd name="adj" fmla="val 5357"/>
            </a:avLst>
          </a:prstGeom>
          <a:solidFill>
            <a:srgbClr val="FFFFFF"/>
          </a:solidFill>
          <a:ln w="19050">
            <a:solidFill>
              <a:srgbClr val="2563EB"/>
            </a:solidFill>
            <a:prstDash val="solid"/>
          </a:ln>
        </p:spPr>
      </p:sp>
      <p:sp>
        <p:nvSpPr>
          <p:cNvPr id="13" name="Text 11"/>
          <p:cNvSpPr/>
          <p:nvPr/>
        </p:nvSpPr>
        <p:spPr>
          <a:xfrm>
            <a:off x="3657600" y="1828800"/>
            <a:ext cx="2194560" cy="274320"/>
          </a:xfrm>
          <a:prstGeom prst="rect">
            <a:avLst/>
          </a:prstGeom>
          <a:noFill/>
          <a:ln/>
        </p:spPr>
        <p:txBody>
          <a:bodyPr wrap="square" rtlCol="0" anchor="ctr"/>
          <a:lstStyle/>
          <a:p>
            <a:pPr algn="ctr" indent="0" marL="0">
              <a:buNone/>
            </a:pPr>
            <a:r>
              <a:rPr lang="en-US" sz="1000" b="1" dirty="0">
                <a:solidFill>
                  <a:srgbClr val="2563EB"/>
                </a:solidFill>
                <a:latin typeface="Segoe UI" pitchFamily="34" charset="0"/>
                <a:ea typeface="Segoe UI" pitchFamily="34" charset="-122"/>
                <a:cs typeface="Segoe UI" pitchFamily="34" charset="-120"/>
              </a:rPr>
              <a:t>TIER 2: BUSINESS</a:t>
            </a:r>
            <a:endParaRPr lang="en-US" sz="1000" dirty="0"/>
          </a:p>
        </p:txBody>
      </p:sp>
      <p:sp>
        <p:nvSpPr>
          <p:cNvPr id="14" name="Text 12"/>
          <p:cNvSpPr/>
          <p:nvPr/>
        </p:nvSpPr>
        <p:spPr>
          <a:xfrm>
            <a:off x="3657600" y="2103120"/>
            <a:ext cx="2194560" cy="365760"/>
          </a:xfrm>
          <a:prstGeom prst="rect">
            <a:avLst/>
          </a:prstGeom>
          <a:noFill/>
          <a:ln/>
        </p:spPr>
        <p:txBody>
          <a:bodyPr wrap="square" rtlCol="0" anchor="ctr"/>
          <a:lstStyle/>
          <a:p>
            <a:pPr algn="ctr" indent="0" marL="0">
              <a:buNone/>
            </a:pPr>
            <a:r>
              <a:rPr lang="en-US" sz="1800" b="1" dirty="0">
                <a:solidFill>
                  <a:srgbClr val="0F172A"/>
                </a:solidFill>
                <a:latin typeface="Segoe UI" pitchFamily="34" charset="0"/>
                <a:ea typeface="Segoe UI" pitchFamily="34" charset="-122"/>
                <a:cs typeface="Segoe UI" pitchFamily="34" charset="-120"/>
              </a:rPr>
              <a:t>₹999 / yr</a:t>
            </a:r>
            <a:endParaRPr lang="en-US" sz="1800" dirty="0"/>
          </a:p>
        </p:txBody>
      </p:sp>
      <p:sp>
        <p:nvSpPr>
          <p:cNvPr id="15" name="Text 13"/>
          <p:cNvSpPr/>
          <p:nvPr/>
        </p:nvSpPr>
        <p:spPr>
          <a:xfrm>
            <a:off x="3657600" y="2468880"/>
            <a:ext cx="2194560" cy="274320"/>
          </a:xfrm>
          <a:prstGeom prst="rect">
            <a:avLst/>
          </a:prstGeom>
          <a:noFill/>
          <a:ln/>
        </p:spPr>
        <p:txBody>
          <a:bodyPr wrap="square" rtlCol="0" anchor="ctr"/>
          <a:lstStyle/>
          <a:p>
            <a:pPr algn="ctr" indent="0" marL="0">
              <a:buNone/>
            </a:pPr>
            <a:r>
              <a:rPr lang="en-US" sz="850" dirty="0">
                <a:solidFill>
                  <a:srgbClr val="64748B"/>
                </a:solidFill>
                <a:latin typeface="Segoe UI" pitchFamily="34" charset="0"/>
                <a:ea typeface="Segoe UI" pitchFamily="34" charset="-122"/>
                <a:cs typeface="Segoe UI" pitchFamily="34" charset="-120"/>
              </a:rPr>
              <a:t>Registry Validated</a:t>
            </a:r>
            <a:endParaRPr lang="en-US" sz="850" dirty="0"/>
          </a:p>
        </p:txBody>
      </p:sp>
      <p:sp>
        <p:nvSpPr>
          <p:cNvPr id="16" name="Shape 14"/>
          <p:cNvSpPr/>
          <p:nvPr/>
        </p:nvSpPr>
        <p:spPr>
          <a:xfrm>
            <a:off x="3657600" y="2788920"/>
            <a:ext cx="2194560" cy="0"/>
          </a:xfrm>
          <a:prstGeom prst="line">
            <a:avLst/>
          </a:prstGeom>
          <a:noFill/>
          <a:ln w="12700">
            <a:solidFill>
              <a:srgbClr val="E2E8F0"/>
            </a:solidFill>
            <a:prstDash val="solid"/>
          </a:ln>
        </p:spPr>
      </p:sp>
      <p:sp>
        <p:nvSpPr>
          <p:cNvPr id="17" name="Text 15"/>
          <p:cNvSpPr/>
          <p:nvPr/>
        </p:nvSpPr>
        <p:spPr>
          <a:xfrm>
            <a:off x="3657600" y="2880360"/>
            <a:ext cx="2194560" cy="2011680"/>
          </a:xfrm>
          <a:prstGeom prst="rect">
            <a:avLst/>
          </a:prstGeom>
          <a:noFill/>
          <a:ln/>
        </p:spPr>
        <p:txBody>
          <a:bodyPr wrap="square" rtlCol="0" anchor="t"/>
          <a:lstStyle/>
          <a:p>
            <a:pPr marL="342900" indent="-342900">
              <a:buSzPct val="100000"/>
              <a:buChar char="•"/>
            </a:pPr>
            <a:r>
              <a:rPr lang="en-US" sz="950" dirty="0">
                <a:solidFill>
                  <a:srgbClr val="475569"/>
                </a:solidFill>
                <a:latin typeface="Segoe UI" pitchFamily="34" charset="0"/>
                <a:ea typeface="Segoe UI" pitchFamily="34" charset="-122"/>
                <a:cs typeface="Segoe UI" pitchFamily="34" charset="-120"/>
              </a:rPr>
              <a:t>Active GSTIN checksum check
</a:t>
            </a:r>
            <a:endParaRPr lang="en-US" sz="950" dirty="0"/>
          </a:p>
          <a:p>
            <a:pPr marL="342900" indent="-342900">
              <a:buSzPct val="100000"/>
              <a:buChar char="•"/>
            </a:pPr>
            <a:r>
              <a:rPr lang="en-US" sz="950" dirty="0">
                <a:solidFill>
                  <a:srgbClr val="475569"/>
                </a:solidFill>
                <a:latin typeface="Segoe UI" pitchFamily="34" charset="0"/>
                <a:ea typeface="Segoe UI" pitchFamily="34" charset="-122"/>
                <a:cs typeface="Segoe UI" pitchFamily="34" charset="-120"/>
              </a:rPr>
              <a:t>IEC export registry match
</a:t>
            </a:r>
            <a:endParaRPr lang="en-US" sz="950" dirty="0"/>
          </a:p>
          <a:p>
            <a:pPr marL="342900" indent="-342900">
              <a:buSzPct val="100000"/>
              <a:buChar char="•"/>
            </a:pPr>
            <a:r>
              <a:rPr lang="en-US" sz="950" dirty="0">
                <a:solidFill>
                  <a:srgbClr val="475569"/>
                </a:solidFill>
                <a:latin typeface="Segoe UI" pitchFamily="34" charset="0"/>
                <a:ea typeface="Segoe UI" pitchFamily="34" charset="-122"/>
                <a:cs typeface="Segoe UI" pitchFamily="34" charset="-120"/>
              </a:rPr>
              <a:t>Bank account KYC check
</a:t>
            </a:r>
            <a:endParaRPr lang="en-US" sz="950" dirty="0"/>
          </a:p>
          <a:p>
            <a:pPr marL="342900" indent="-342900">
              <a:buSzPct val="100000"/>
              <a:buChar char="•"/>
            </a:pPr>
            <a:r>
              <a:rPr lang="en-US" sz="950" dirty="0">
                <a:solidFill>
                  <a:srgbClr val="475569"/>
                </a:solidFill>
                <a:latin typeface="Segoe UI" pitchFamily="34" charset="0"/>
                <a:ea typeface="Segoe UI" pitchFamily="34" charset="-122"/>
                <a:cs typeface="Segoe UI" pitchFamily="34" charset="-120"/>
              </a:rPr>
              <a:t>Business Verified badge
</a:t>
            </a:r>
            <a:endParaRPr lang="en-US" sz="950" dirty="0"/>
          </a:p>
        </p:txBody>
      </p:sp>
      <p:sp>
        <p:nvSpPr>
          <p:cNvPr id="18" name="Shape 16"/>
          <p:cNvSpPr/>
          <p:nvPr/>
        </p:nvSpPr>
        <p:spPr>
          <a:xfrm>
            <a:off x="6217920" y="1645920"/>
            <a:ext cx="2560320" cy="3383280"/>
          </a:xfrm>
          <a:prstGeom prst="roundRect">
            <a:avLst>
              <a:gd name="adj" fmla="val 5357"/>
            </a:avLst>
          </a:prstGeom>
          <a:solidFill>
            <a:srgbClr val="FFFFFF"/>
          </a:solidFill>
          <a:ln w="19050">
            <a:solidFill>
              <a:srgbClr val="EA580C"/>
            </a:solidFill>
            <a:prstDash val="solid"/>
          </a:ln>
        </p:spPr>
      </p:sp>
      <p:sp>
        <p:nvSpPr>
          <p:cNvPr id="19" name="Text 17"/>
          <p:cNvSpPr/>
          <p:nvPr/>
        </p:nvSpPr>
        <p:spPr>
          <a:xfrm>
            <a:off x="6400800" y="1828800"/>
            <a:ext cx="2194560" cy="274320"/>
          </a:xfrm>
          <a:prstGeom prst="rect">
            <a:avLst/>
          </a:prstGeom>
          <a:noFill/>
          <a:ln/>
        </p:spPr>
        <p:txBody>
          <a:bodyPr wrap="square" rtlCol="0" anchor="ctr"/>
          <a:lstStyle/>
          <a:p>
            <a:pPr algn="ctr" indent="0" marL="0">
              <a:buNone/>
            </a:pPr>
            <a:r>
              <a:rPr lang="en-US" sz="1000" b="1" dirty="0">
                <a:solidFill>
                  <a:srgbClr val="EA580C"/>
                </a:solidFill>
                <a:latin typeface="Segoe UI" pitchFamily="34" charset="0"/>
                <a:ea typeface="Segoe UI" pitchFamily="34" charset="-122"/>
                <a:cs typeface="Segoe UI" pitchFamily="34" charset="-120"/>
              </a:rPr>
              <a:t>TIER 3: VERIFIED</a:t>
            </a:r>
            <a:endParaRPr lang="en-US" sz="1000" dirty="0"/>
          </a:p>
        </p:txBody>
      </p:sp>
      <p:sp>
        <p:nvSpPr>
          <p:cNvPr id="20" name="Text 18"/>
          <p:cNvSpPr/>
          <p:nvPr/>
        </p:nvSpPr>
        <p:spPr>
          <a:xfrm>
            <a:off x="6400800" y="2103120"/>
            <a:ext cx="2194560" cy="365760"/>
          </a:xfrm>
          <a:prstGeom prst="rect">
            <a:avLst/>
          </a:prstGeom>
          <a:noFill/>
          <a:ln/>
        </p:spPr>
        <p:txBody>
          <a:bodyPr wrap="square" rtlCol="0" anchor="ctr"/>
          <a:lstStyle/>
          <a:p>
            <a:pPr algn="ctr" indent="0" marL="0">
              <a:buNone/>
            </a:pPr>
            <a:r>
              <a:rPr lang="en-US" sz="1800" b="1" dirty="0">
                <a:solidFill>
                  <a:srgbClr val="0F172A"/>
                </a:solidFill>
                <a:latin typeface="Segoe UI" pitchFamily="34" charset="0"/>
                <a:ea typeface="Segoe UI" pitchFamily="34" charset="-122"/>
                <a:cs typeface="Segoe UI" pitchFamily="34" charset="-120"/>
              </a:rPr>
              <a:t>₹9,999 / yr</a:t>
            </a:r>
            <a:endParaRPr lang="en-US" sz="1800" dirty="0"/>
          </a:p>
        </p:txBody>
      </p:sp>
      <p:sp>
        <p:nvSpPr>
          <p:cNvPr id="21" name="Text 19"/>
          <p:cNvSpPr/>
          <p:nvPr/>
        </p:nvSpPr>
        <p:spPr>
          <a:xfrm>
            <a:off x="6400800" y="2468880"/>
            <a:ext cx="2194560" cy="274320"/>
          </a:xfrm>
          <a:prstGeom prst="rect">
            <a:avLst/>
          </a:prstGeom>
          <a:noFill/>
          <a:ln/>
        </p:spPr>
        <p:txBody>
          <a:bodyPr wrap="square" rtlCol="0" anchor="ctr"/>
          <a:lstStyle/>
          <a:p>
            <a:pPr algn="ctr" indent="0" marL="0">
              <a:buNone/>
            </a:pPr>
            <a:r>
              <a:rPr lang="en-US" sz="850" dirty="0">
                <a:solidFill>
                  <a:srgbClr val="64748B"/>
                </a:solidFill>
                <a:latin typeface="Segoe UI" pitchFamily="34" charset="0"/>
                <a:ea typeface="Segoe UI" pitchFamily="34" charset="-122"/>
                <a:cs typeface="Segoe UI" pitchFamily="34" charset="-120"/>
              </a:rPr>
              <a:t>Document &amp; Video Audit</a:t>
            </a:r>
            <a:endParaRPr lang="en-US" sz="850" dirty="0"/>
          </a:p>
        </p:txBody>
      </p:sp>
      <p:sp>
        <p:nvSpPr>
          <p:cNvPr id="22" name="Shape 20"/>
          <p:cNvSpPr/>
          <p:nvPr/>
        </p:nvSpPr>
        <p:spPr>
          <a:xfrm>
            <a:off x="6400800" y="2788920"/>
            <a:ext cx="2194560" cy="0"/>
          </a:xfrm>
          <a:prstGeom prst="line">
            <a:avLst/>
          </a:prstGeom>
          <a:noFill/>
          <a:ln w="12700">
            <a:solidFill>
              <a:srgbClr val="E2E8F0"/>
            </a:solidFill>
            <a:prstDash val="solid"/>
          </a:ln>
        </p:spPr>
      </p:sp>
      <p:sp>
        <p:nvSpPr>
          <p:cNvPr id="23" name="Text 21"/>
          <p:cNvSpPr/>
          <p:nvPr/>
        </p:nvSpPr>
        <p:spPr>
          <a:xfrm>
            <a:off x="6400800" y="2880360"/>
            <a:ext cx="2194560" cy="2011680"/>
          </a:xfrm>
          <a:prstGeom prst="rect">
            <a:avLst/>
          </a:prstGeom>
          <a:noFill/>
          <a:ln/>
        </p:spPr>
        <p:txBody>
          <a:bodyPr wrap="square" rtlCol="0" anchor="t"/>
          <a:lstStyle/>
          <a:p>
            <a:pPr marL="342900" indent="-342900">
              <a:buSzPct val="100000"/>
              <a:buChar char="•"/>
            </a:pPr>
            <a:r>
              <a:rPr lang="en-US" sz="950" dirty="0">
                <a:solidFill>
                  <a:srgbClr val="475569"/>
                </a:solidFill>
                <a:latin typeface="Segoe UI" pitchFamily="34" charset="0"/>
                <a:ea typeface="Segoe UI" pitchFamily="34" charset="-122"/>
                <a:cs typeface="Segoe UI" pitchFamily="34" charset="-120"/>
              </a:rPr>
              <a:t>License authenticity review
</a:t>
            </a:r>
            <a:endParaRPr lang="en-US" sz="950" dirty="0"/>
          </a:p>
          <a:p>
            <a:pPr marL="342900" indent="-342900">
              <a:buSzPct val="100000"/>
              <a:buChar char="•"/>
            </a:pPr>
            <a:r>
              <a:rPr lang="en-US" sz="950" dirty="0">
                <a:solidFill>
                  <a:srgbClr val="475569"/>
                </a:solidFill>
                <a:latin typeface="Segoe UI" pitchFamily="34" charset="0"/>
                <a:ea typeface="Segoe UI" pitchFamily="34" charset="-122"/>
                <a:cs typeface="Segoe UI" pitchFamily="34" charset="-120"/>
              </a:rPr>
              <a:t>Video factory walkthrough
</a:t>
            </a:r>
            <a:endParaRPr lang="en-US" sz="950" dirty="0"/>
          </a:p>
          <a:p>
            <a:pPr marL="342900" indent="-342900">
              <a:buSzPct val="100000"/>
              <a:buChar char="•"/>
            </a:pPr>
            <a:r>
              <a:rPr lang="en-US" sz="950" dirty="0">
                <a:solidFill>
                  <a:srgbClr val="475569"/>
                </a:solidFill>
                <a:latin typeface="Segoe UI" pitchFamily="34" charset="0"/>
                <a:ea typeface="Segoe UI" pitchFamily="34" charset="-122"/>
                <a:cs typeface="Segoe UI" pitchFamily="34" charset="-120"/>
              </a:rPr>
              <a:t>Capacity cross-verification
</a:t>
            </a:r>
            <a:endParaRPr lang="en-US" sz="950" dirty="0"/>
          </a:p>
          <a:p>
            <a:pPr marL="342900" indent="-342900">
              <a:buSzPct val="100000"/>
              <a:buChar char="•"/>
            </a:pPr>
            <a:r>
              <a:rPr lang="en-US" sz="950" dirty="0">
                <a:solidFill>
                  <a:srgbClr val="475569"/>
                </a:solidFill>
                <a:latin typeface="Segoe UI" pitchFamily="34" charset="0"/>
                <a:ea typeface="Segoe UI" pitchFamily="34" charset="-122"/>
                <a:cs typeface="Segoe UI" pitchFamily="34" charset="-120"/>
              </a:rPr>
              <a:t>Verified Supplier badge
</a:t>
            </a:r>
            <a:endParaRPr lang="en-US" sz="950" dirty="0"/>
          </a:p>
        </p:txBody>
      </p:sp>
      <p:sp>
        <p:nvSpPr>
          <p:cNvPr id="24" name="Shape 22"/>
          <p:cNvSpPr/>
          <p:nvPr/>
        </p:nvSpPr>
        <p:spPr>
          <a:xfrm>
            <a:off x="8961120" y="1645920"/>
            <a:ext cx="2560320" cy="3383280"/>
          </a:xfrm>
          <a:prstGeom prst="roundRect">
            <a:avLst>
              <a:gd name="adj" fmla="val 5357"/>
            </a:avLst>
          </a:prstGeom>
          <a:solidFill>
            <a:srgbClr val="FFFFFF"/>
          </a:solidFill>
          <a:ln w="19050">
            <a:solidFill>
              <a:srgbClr val="059669"/>
            </a:solidFill>
            <a:prstDash val="solid"/>
          </a:ln>
        </p:spPr>
      </p:sp>
      <p:sp>
        <p:nvSpPr>
          <p:cNvPr id="25" name="Text 23"/>
          <p:cNvSpPr/>
          <p:nvPr/>
        </p:nvSpPr>
        <p:spPr>
          <a:xfrm>
            <a:off x="9144000" y="1828800"/>
            <a:ext cx="2194560" cy="274320"/>
          </a:xfrm>
          <a:prstGeom prst="rect">
            <a:avLst/>
          </a:prstGeom>
          <a:noFill/>
          <a:ln/>
        </p:spPr>
        <p:txBody>
          <a:bodyPr wrap="square" rtlCol="0" anchor="ctr"/>
          <a:lstStyle/>
          <a:p>
            <a:pPr algn="ctr" indent="0" marL="0">
              <a:buNone/>
            </a:pPr>
            <a:r>
              <a:rPr lang="en-US" sz="1000" b="1" dirty="0">
                <a:solidFill>
                  <a:srgbClr val="059669"/>
                </a:solidFill>
                <a:latin typeface="Segoe UI" pitchFamily="34" charset="0"/>
                <a:ea typeface="Segoe UI" pitchFamily="34" charset="-122"/>
                <a:cs typeface="Segoe UI" pitchFamily="34" charset="-120"/>
              </a:rPr>
              <a:t>TIER 4: AUDITED</a:t>
            </a:r>
            <a:endParaRPr lang="en-US" sz="1000" dirty="0"/>
          </a:p>
        </p:txBody>
      </p:sp>
      <p:sp>
        <p:nvSpPr>
          <p:cNvPr id="26" name="Text 24"/>
          <p:cNvSpPr/>
          <p:nvPr/>
        </p:nvSpPr>
        <p:spPr>
          <a:xfrm>
            <a:off x="9144000" y="2103120"/>
            <a:ext cx="2194560" cy="365760"/>
          </a:xfrm>
          <a:prstGeom prst="rect">
            <a:avLst/>
          </a:prstGeom>
          <a:noFill/>
          <a:ln/>
        </p:spPr>
        <p:txBody>
          <a:bodyPr wrap="square" rtlCol="0" anchor="ctr"/>
          <a:lstStyle/>
          <a:p>
            <a:pPr algn="ctr" indent="0" marL="0">
              <a:buNone/>
            </a:pPr>
            <a:r>
              <a:rPr lang="en-US" sz="1800" b="1" dirty="0">
                <a:solidFill>
                  <a:srgbClr val="0F172A"/>
                </a:solidFill>
                <a:latin typeface="Segoe UI" pitchFamily="34" charset="0"/>
                <a:ea typeface="Segoe UI" pitchFamily="34" charset="-122"/>
                <a:cs typeface="Segoe UI" pitchFamily="34" charset="-120"/>
              </a:rPr>
              <a:t>₹29,999 / yr</a:t>
            </a:r>
            <a:endParaRPr lang="en-US" sz="1800" dirty="0"/>
          </a:p>
        </p:txBody>
      </p:sp>
      <p:sp>
        <p:nvSpPr>
          <p:cNvPr id="27" name="Text 25"/>
          <p:cNvSpPr/>
          <p:nvPr/>
        </p:nvSpPr>
        <p:spPr>
          <a:xfrm>
            <a:off x="9144000" y="2468880"/>
            <a:ext cx="2194560" cy="274320"/>
          </a:xfrm>
          <a:prstGeom prst="rect">
            <a:avLst/>
          </a:prstGeom>
          <a:noFill/>
          <a:ln/>
        </p:spPr>
        <p:txBody>
          <a:bodyPr wrap="square" rtlCol="0" anchor="ctr"/>
          <a:lstStyle/>
          <a:p>
            <a:pPr algn="ctr" indent="0" marL="0">
              <a:buNone/>
            </a:pPr>
            <a:r>
              <a:rPr lang="en-US" sz="850" dirty="0">
                <a:solidFill>
                  <a:srgbClr val="64748B"/>
                </a:solidFill>
                <a:latin typeface="Segoe UI" pitchFamily="34" charset="0"/>
                <a:ea typeface="Segoe UI" pitchFamily="34" charset="-122"/>
                <a:cs typeface="Segoe UI" pitchFamily="34" charset="-120"/>
              </a:rPr>
              <a:t>GPS Physical Audit</a:t>
            </a:r>
            <a:endParaRPr lang="en-US" sz="850" dirty="0"/>
          </a:p>
        </p:txBody>
      </p:sp>
      <p:sp>
        <p:nvSpPr>
          <p:cNvPr id="28" name="Shape 26"/>
          <p:cNvSpPr/>
          <p:nvPr/>
        </p:nvSpPr>
        <p:spPr>
          <a:xfrm>
            <a:off x="9144000" y="2788920"/>
            <a:ext cx="2194560" cy="0"/>
          </a:xfrm>
          <a:prstGeom prst="line">
            <a:avLst/>
          </a:prstGeom>
          <a:noFill/>
          <a:ln w="12700">
            <a:solidFill>
              <a:srgbClr val="E2E8F0"/>
            </a:solidFill>
            <a:prstDash val="solid"/>
          </a:ln>
        </p:spPr>
      </p:sp>
      <p:sp>
        <p:nvSpPr>
          <p:cNvPr id="29" name="Text 27"/>
          <p:cNvSpPr/>
          <p:nvPr/>
        </p:nvSpPr>
        <p:spPr>
          <a:xfrm>
            <a:off x="9144000" y="2880360"/>
            <a:ext cx="2194560" cy="2011680"/>
          </a:xfrm>
          <a:prstGeom prst="rect">
            <a:avLst/>
          </a:prstGeom>
          <a:noFill/>
          <a:ln/>
        </p:spPr>
        <p:txBody>
          <a:bodyPr wrap="square" rtlCol="0" anchor="t"/>
          <a:lstStyle/>
          <a:p>
            <a:pPr marL="342900" indent="-342900">
              <a:buSzPct val="100000"/>
              <a:buChar char="•"/>
            </a:pPr>
            <a:r>
              <a:rPr lang="en-US" sz="950" dirty="0">
                <a:solidFill>
                  <a:srgbClr val="475569"/>
                </a:solidFill>
                <a:latin typeface="Segoe UI" pitchFamily="34" charset="0"/>
                <a:ea typeface="Segoe UI" pitchFamily="34" charset="-122"/>
                <a:cs typeface="Segoe UI" pitchFamily="34" charset="-120"/>
              </a:rPr>
              <a:t>On-site physical inspection
</a:t>
            </a:r>
            <a:endParaRPr lang="en-US" sz="950" dirty="0"/>
          </a:p>
          <a:p>
            <a:pPr marL="342900" indent="-342900">
              <a:buSzPct val="100000"/>
              <a:buChar char="•"/>
            </a:pPr>
            <a:r>
              <a:rPr lang="en-US" sz="950" dirty="0">
                <a:solidFill>
                  <a:srgbClr val="475569"/>
                </a:solidFill>
                <a:latin typeface="Segoe UI" pitchFamily="34" charset="0"/>
                <a:ea typeface="Segoe UI" pitchFamily="34" charset="-122"/>
                <a:cs typeface="Segoe UI" pitchFamily="34" charset="-120"/>
              </a:rPr>
              <a:t>Machine capacity timestamp
</a:t>
            </a:r>
            <a:endParaRPr lang="en-US" sz="950" dirty="0"/>
          </a:p>
          <a:p>
            <a:pPr marL="342900" indent="-342900">
              <a:buSzPct val="100000"/>
              <a:buChar char="•"/>
            </a:pPr>
            <a:r>
              <a:rPr lang="en-US" sz="950" dirty="0">
                <a:solidFill>
                  <a:srgbClr val="475569"/>
                </a:solidFill>
                <a:latin typeface="Segoe UI" pitchFamily="34" charset="0"/>
                <a:ea typeface="Segoe UI" pitchFamily="34" charset="-122"/>
                <a:cs typeface="Segoe UI" pitchFamily="34" charset="-120"/>
              </a:rPr>
              <a:t>Continuous monthly monitor
</a:t>
            </a:r>
            <a:endParaRPr lang="en-US" sz="950" dirty="0"/>
          </a:p>
          <a:p>
            <a:pPr marL="342900" indent="-342900">
              <a:buSzPct val="100000"/>
              <a:buChar char="•"/>
            </a:pPr>
            <a:r>
              <a:rPr lang="en-US" sz="950" dirty="0">
                <a:solidFill>
                  <a:srgbClr val="475569"/>
                </a:solidFill>
                <a:latin typeface="Segoe UI" pitchFamily="34" charset="0"/>
                <a:ea typeface="Segoe UI" pitchFamily="34" charset="-122"/>
                <a:cs typeface="Segoe UI" pitchFamily="34" charset="-120"/>
              </a:rPr>
              <a:t>Gold Audited badge
</a:t>
            </a:r>
            <a:endParaRPr lang="en-US" sz="950" dirty="0"/>
          </a:p>
        </p:txBody>
      </p:sp>
      <p:sp>
        <p:nvSpPr>
          <p:cNvPr id="30" name="Shape 28"/>
          <p:cNvSpPr/>
          <p:nvPr/>
        </p:nvSpPr>
        <p:spPr>
          <a:xfrm>
            <a:off x="731520" y="5166360"/>
            <a:ext cx="10698480" cy="960120"/>
          </a:xfrm>
          <a:prstGeom prst="roundRect">
            <a:avLst>
              <a:gd name="adj" fmla="val 14286"/>
            </a:avLst>
          </a:prstGeom>
          <a:solidFill>
            <a:srgbClr val="FEF3C7"/>
          </a:solidFill>
          <a:ln w="19050">
            <a:solidFill>
              <a:srgbClr val="D97706"/>
            </a:solidFill>
            <a:prstDash val="solid"/>
          </a:ln>
        </p:spPr>
      </p:sp>
      <p:sp>
        <p:nvSpPr>
          <p:cNvPr id="31" name="Text 29"/>
          <p:cNvSpPr/>
          <p:nvPr/>
        </p:nvSpPr>
        <p:spPr>
          <a:xfrm>
            <a:off x="1005840" y="5257800"/>
            <a:ext cx="10149840" cy="320040"/>
          </a:xfrm>
          <a:prstGeom prst="rect">
            <a:avLst/>
          </a:prstGeom>
          <a:noFill/>
          <a:ln/>
        </p:spPr>
        <p:txBody>
          <a:bodyPr wrap="square" rtlCol="0" anchor="ctr"/>
          <a:lstStyle/>
          <a:p>
            <a:pPr algn="ctr" indent="0" marL="0">
              <a:buNone/>
            </a:pPr>
            <a:r>
              <a:rPr lang="en-US" sz="1200" b="1" dirty="0">
                <a:solidFill>
                  <a:srgbClr val="C2410C"/>
                </a:solidFill>
                <a:latin typeface="Segoe UI" pitchFamily="34" charset="0"/>
                <a:ea typeface="Segoe UI" pitchFamily="34" charset="-122"/>
                <a:cs typeface="Segoe UI" pitchFamily="34" charset="-120"/>
              </a:rPr>
              <a:t>⚠️ THE GOLDEN RULE OF ARTHA: You pay for the audit. You CANNOT pay for the ranking.</a:t>
            </a:r>
            <a:endParaRPr lang="en-US" sz="1200" dirty="0"/>
          </a:p>
        </p:txBody>
      </p:sp>
      <p:sp>
        <p:nvSpPr>
          <p:cNvPr id="32" name="Text 30"/>
          <p:cNvSpPr/>
          <p:nvPr/>
        </p:nvSpPr>
        <p:spPr>
          <a:xfrm>
            <a:off x="1005840" y="5532120"/>
            <a:ext cx="10149840" cy="502920"/>
          </a:xfrm>
          <a:prstGeom prst="rect">
            <a:avLst/>
          </a:prstGeom>
          <a:noFill/>
          <a:ln/>
        </p:spPr>
        <p:txBody>
          <a:bodyPr wrap="square" rtlCol="0" anchor="ctr"/>
          <a:lstStyle/>
          <a:p>
            <a:pPr algn="ctr" indent="0" marL="0">
              <a:buNone/>
            </a:pPr>
            <a:r>
              <a:rPr lang="en-US" sz="1050" dirty="0">
                <a:solidFill>
                  <a:srgbClr val="475569"/>
                </a:solidFill>
                <a:latin typeface="Segoe UI" pitchFamily="34" charset="0"/>
                <a:ea typeface="Segoe UI" pitchFamily="34" charset="-122"/>
                <a:cs typeface="Segoe UI" pitchFamily="34" charset="-120"/>
              </a:rPr>
              <a:t>MSMEs already spend ₹71,000/yr on IndiaMART for unverified lead spam. Artha’s ₹9,999 Tier is 86% cheaper and opens real international procurement desks.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65760"/>
            <a:ext cx="2286000" cy="320040"/>
          </a:xfrm>
          <a:prstGeom prst="roundRect">
            <a:avLst>
              <a:gd name="adj" fmla="val 42857"/>
            </a:avLst>
          </a:prstGeom>
          <a:solidFill>
            <a:srgbClr val="FFF7ED"/>
          </a:solidFill>
          <a:ln w="12700">
            <a:solidFill>
              <a:srgbClr val="EA580C"/>
            </a:solidFill>
            <a:prstDash val="solid"/>
          </a:ln>
        </p:spPr>
      </p:sp>
      <p:sp>
        <p:nvSpPr>
          <p:cNvPr id="3" name="Text 1"/>
          <p:cNvSpPr/>
          <p:nvPr/>
        </p:nvSpPr>
        <p:spPr>
          <a:xfrm>
            <a:off x="731520" y="365760"/>
            <a:ext cx="2286000" cy="320040"/>
          </a:xfrm>
          <a:prstGeom prst="rect">
            <a:avLst/>
          </a:prstGeom>
          <a:noFill/>
          <a:ln/>
        </p:spPr>
        <p:txBody>
          <a:bodyPr wrap="square" rtlCol="0" anchor="ctr"/>
          <a:lstStyle/>
          <a:p>
            <a:pPr algn="ctr" indent="0" marL="0">
              <a:buNone/>
            </a:pPr>
            <a:r>
              <a:rPr lang="en-US" sz="1000" b="1" dirty="0">
                <a:solidFill>
                  <a:srgbClr val="C2410C"/>
                </a:solidFill>
                <a:latin typeface="Segoe UI" pitchFamily="34" charset="0"/>
                <a:ea typeface="Segoe UI" pitchFamily="34" charset="-122"/>
                <a:cs typeface="Segoe UI" pitchFamily="34" charset="-120"/>
              </a:rPr>
              <a:t>DEFENSIBILITY &amp; MOAT</a:t>
            </a:r>
            <a:endParaRPr lang="en-US" sz="1000" dirty="0"/>
          </a:p>
        </p:txBody>
      </p:sp>
      <p:sp>
        <p:nvSpPr>
          <p:cNvPr id="4" name="Text 2"/>
          <p:cNvSpPr/>
          <p:nvPr/>
        </p:nvSpPr>
        <p:spPr>
          <a:xfrm>
            <a:off x="731520" y="731520"/>
            <a:ext cx="10515600" cy="502920"/>
          </a:xfrm>
          <a:prstGeom prst="rect">
            <a:avLst/>
          </a:prstGeom>
          <a:noFill/>
          <a:ln/>
        </p:spPr>
        <p:txBody>
          <a:bodyPr wrap="square" rtlCol="0" anchor="ctr"/>
          <a:lstStyle/>
          <a:p>
            <a:pPr indent="0" marL="0">
              <a:buNone/>
            </a:pPr>
            <a:r>
              <a:rPr lang="en-US" sz="2200" b="1" dirty="0">
                <a:solidFill>
                  <a:srgbClr val="0F172A"/>
                </a:solidFill>
                <a:latin typeface="Segoe UI" pitchFamily="34" charset="0"/>
                <a:ea typeface="Segoe UI" pitchFamily="34" charset="-122"/>
                <a:cs typeface="Segoe UI" pitchFamily="34" charset="-120"/>
              </a:rPr>
              <a:t>Why Artha Wins: The Structural Advantage</a:t>
            </a:r>
            <a:endParaRPr lang="en-US" sz="2200" dirty="0"/>
          </a:p>
        </p:txBody>
      </p:sp>
      <p:sp>
        <p:nvSpPr>
          <p:cNvPr id="5" name="Text 3"/>
          <p:cNvSpPr/>
          <p:nvPr/>
        </p:nvSpPr>
        <p:spPr>
          <a:xfrm>
            <a:off x="731520" y="1234440"/>
            <a:ext cx="10515600" cy="320040"/>
          </a:xfrm>
          <a:prstGeom prst="rect">
            <a:avLst/>
          </a:prstGeom>
          <a:noFill/>
          <a:ln/>
        </p:spPr>
        <p:txBody>
          <a:bodyPr wrap="square" rtlCol="0" anchor="ctr"/>
          <a:lstStyle/>
          <a:p>
            <a:pPr indent="0" marL="0">
              <a:buNone/>
            </a:pPr>
            <a:r>
              <a:rPr lang="en-US" sz="1200" dirty="0">
                <a:solidFill>
                  <a:srgbClr val="475569"/>
                </a:solidFill>
                <a:latin typeface="Segoe UI" pitchFamily="34" charset="0"/>
                <a:ea typeface="Segoe UI" pitchFamily="34" charset="-122"/>
                <a:cs typeface="Segoe UI" pitchFamily="34" charset="-120"/>
              </a:rPr>
              <a:t>Incumbents are trapped by their own revenue models. Artha’s incentives are aligned with truth.</a:t>
            </a:r>
            <a:endParaRPr lang="en-US" sz="1200" dirty="0"/>
          </a:p>
        </p:txBody>
      </p:sp>
      <p:sp>
        <p:nvSpPr>
          <p:cNvPr id="6" name="Shape 4"/>
          <p:cNvSpPr/>
          <p:nvPr/>
        </p:nvSpPr>
        <p:spPr>
          <a:xfrm>
            <a:off x="731520" y="1645920"/>
            <a:ext cx="5212080" cy="4389120"/>
          </a:xfrm>
          <a:prstGeom prst="roundRect">
            <a:avLst>
              <a:gd name="adj" fmla="val 3125"/>
            </a:avLst>
          </a:prstGeom>
          <a:solidFill>
            <a:srgbClr val="FFFFFF"/>
          </a:solidFill>
          <a:ln w="19050">
            <a:solidFill>
              <a:srgbClr val="DC2626"/>
            </a:solidFill>
            <a:prstDash val="solid"/>
          </a:ln>
        </p:spPr>
      </p:sp>
      <p:sp>
        <p:nvSpPr>
          <p:cNvPr id="7" name="Text 5"/>
          <p:cNvSpPr/>
          <p:nvPr/>
        </p:nvSpPr>
        <p:spPr>
          <a:xfrm>
            <a:off x="1005840" y="1828800"/>
            <a:ext cx="4663440" cy="320040"/>
          </a:xfrm>
          <a:prstGeom prst="rect">
            <a:avLst/>
          </a:prstGeom>
          <a:noFill/>
          <a:ln/>
        </p:spPr>
        <p:txBody>
          <a:bodyPr wrap="square" rtlCol="0" anchor="ctr"/>
          <a:lstStyle/>
          <a:p>
            <a:pPr indent="0" marL="0">
              <a:buNone/>
            </a:pPr>
            <a:r>
              <a:rPr lang="en-US" sz="1300" b="1" dirty="0">
                <a:solidFill>
                  <a:srgbClr val="DC2626"/>
                </a:solidFill>
                <a:latin typeface="Segoe UI" pitchFamily="34" charset="0"/>
                <a:ea typeface="Segoe UI" pitchFamily="34" charset="-122"/>
                <a:cs typeface="Segoe UI" pitchFamily="34" charset="-120"/>
              </a:rPr>
              <a:t>INDIAMART’S STRUCTURAL TRAP</a:t>
            </a:r>
            <a:endParaRPr lang="en-US" sz="1300" dirty="0"/>
          </a:p>
        </p:txBody>
      </p:sp>
      <p:sp>
        <p:nvSpPr>
          <p:cNvPr id="8" name="Text 6"/>
          <p:cNvSpPr/>
          <p:nvPr/>
        </p:nvSpPr>
        <p:spPr>
          <a:xfrm>
            <a:off x="1005840" y="2240280"/>
            <a:ext cx="4663440" cy="274320"/>
          </a:xfrm>
          <a:prstGeom prst="rect">
            <a:avLst/>
          </a:prstGeom>
          <a:noFill/>
          <a:ln/>
        </p:spPr>
        <p:txBody>
          <a:bodyPr wrap="square" rtlCol="0" anchor="t"/>
          <a:lstStyle/>
          <a:p>
            <a:pPr indent="0" marL="0">
              <a:buNone/>
            </a:pPr>
            <a:r>
              <a:rPr lang="en-US" sz="1100" b="1" dirty="0">
                <a:solidFill>
                  <a:srgbClr val="0F172A"/>
                </a:solidFill>
                <a:latin typeface="Segoe UI" pitchFamily="34" charset="0"/>
                <a:ea typeface="Segoe UI" pitchFamily="34" charset="-122"/>
                <a:cs typeface="Segoe UI" pitchFamily="34" charset="-120"/>
              </a:rPr>
              <a:t>❌ Revenue Model = Listing Volume</a:t>
            </a:r>
            <a:endParaRPr lang="en-US" sz="1100" dirty="0"/>
          </a:p>
        </p:txBody>
      </p:sp>
      <p:sp>
        <p:nvSpPr>
          <p:cNvPr id="9" name="Text 7"/>
          <p:cNvSpPr/>
          <p:nvPr/>
        </p:nvSpPr>
        <p:spPr>
          <a:xfrm>
            <a:off x="1280160" y="2514600"/>
            <a:ext cx="4389120" cy="594360"/>
          </a:xfrm>
          <a:prstGeom prst="rect">
            <a:avLst/>
          </a:prstGeom>
          <a:noFill/>
          <a:ln/>
        </p:spPr>
        <p:txBody>
          <a:bodyPr wrap="square" rtlCol="0" anchor="t"/>
          <a:lstStyle/>
          <a:p>
            <a:pPr indent="0" marL="0">
              <a:buNone/>
            </a:pPr>
            <a:r>
              <a:rPr lang="en-US" sz="950" dirty="0">
                <a:solidFill>
                  <a:srgbClr val="475569"/>
                </a:solidFill>
                <a:latin typeface="Segoe UI" pitchFamily="34" charset="0"/>
                <a:ea typeface="Segoe UI" pitchFamily="34" charset="-122"/>
                <a:cs typeface="Segoe UI" pitchFamily="34" charset="-120"/>
              </a:rPr>
              <a:t>Earns ₹1,569 Cr by charging 220K suppliers for lead visibility.</a:t>
            </a:r>
            <a:endParaRPr lang="en-US" sz="950" dirty="0"/>
          </a:p>
        </p:txBody>
      </p:sp>
      <p:sp>
        <p:nvSpPr>
          <p:cNvPr id="10" name="Text 8"/>
          <p:cNvSpPr/>
          <p:nvPr/>
        </p:nvSpPr>
        <p:spPr>
          <a:xfrm>
            <a:off x="1005840" y="3154680"/>
            <a:ext cx="4663440" cy="274320"/>
          </a:xfrm>
          <a:prstGeom prst="rect">
            <a:avLst/>
          </a:prstGeom>
          <a:noFill/>
          <a:ln/>
        </p:spPr>
        <p:txBody>
          <a:bodyPr wrap="square" rtlCol="0" anchor="t"/>
          <a:lstStyle/>
          <a:p>
            <a:pPr indent="0" marL="0">
              <a:buNone/>
            </a:pPr>
            <a:r>
              <a:rPr lang="en-US" sz="1100" b="1" dirty="0">
                <a:solidFill>
                  <a:srgbClr val="0F172A"/>
                </a:solidFill>
                <a:latin typeface="Segoe UI" pitchFamily="34" charset="0"/>
                <a:ea typeface="Segoe UI" pitchFamily="34" charset="-122"/>
                <a:cs typeface="Segoe UI" pitchFamily="34" charset="-120"/>
              </a:rPr>
              <a:t>❌ Verification Kills Their Cash Flow</a:t>
            </a:r>
            <a:endParaRPr lang="en-US" sz="1100" dirty="0"/>
          </a:p>
        </p:txBody>
      </p:sp>
      <p:sp>
        <p:nvSpPr>
          <p:cNvPr id="11" name="Text 9"/>
          <p:cNvSpPr/>
          <p:nvPr/>
        </p:nvSpPr>
        <p:spPr>
          <a:xfrm>
            <a:off x="1280160" y="3429000"/>
            <a:ext cx="4389120" cy="594360"/>
          </a:xfrm>
          <a:prstGeom prst="rect">
            <a:avLst/>
          </a:prstGeom>
          <a:noFill/>
          <a:ln/>
        </p:spPr>
        <p:txBody>
          <a:bodyPr wrap="square" rtlCol="0" anchor="t"/>
          <a:lstStyle/>
          <a:p>
            <a:pPr indent="0" marL="0">
              <a:buNone/>
            </a:pPr>
            <a:r>
              <a:rPr lang="en-US" sz="950" dirty="0">
                <a:solidFill>
                  <a:srgbClr val="475569"/>
                </a:solidFill>
                <a:latin typeface="Segoe UI" pitchFamily="34" charset="0"/>
                <a:ea typeface="Segoe UI" pitchFamily="34" charset="-122"/>
                <a:cs typeface="Segoe UI" pitchFamily="34" charset="-120"/>
              </a:rPr>
              <a:t>Enforcing strict factory audits would disqualify &gt;60% of their paying user base (brokers &amp; traders).</a:t>
            </a:r>
            <a:endParaRPr lang="en-US" sz="950" dirty="0"/>
          </a:p>
        </p:txBody>
      </p:sp>
      <p:sp>
        <p:nvSpPr>
          <p:cNvPr id="12" name="Text 10"/>
          <p:cNvSpPr/>
          <p:nvPr/>
        </p:nvSpPr>
        <p:spPr>
          <a:xfrm>
            <a:off x="1005840" y="4069080"/>
            <a:ext cx="4663440" cy="274320"/>
          </a:xfrm>
          <a:prstGeom prst="rect">
            <a:avLst/>
          </a:prstGeom>
          <a:noFill/>
          <a:ln/>
        </p:spPr>
        <p:txBody>
          <a:bodyPr wrap="square" rtlCol="0" anchor="t"/>
          <a:lstStyle/>
          <a:p>
            <a:pPr indent="0" marL="0">
              <a:buNone/>
            </a:pPr>
            <a:r>
              <a:rPr lang="en-US" sz="1100" b="1" dirty="0">
                <a:solidFill>
                  <a:srgbClr val="0F172A"/>
                </a:solidFill>
                <a:latin typeface="Segoe UI" pitchFamily="34" charset="0"/>
                <a:ea typeface="Segoe UI" pitchFamily="34" charset="-122"/>
                <a:cs typeface="Segoe UI" pitchFamily="34" charset="-120"/>
              </a:rPr>
              <a:t>❌ The Vicious Incentives Cycle</a:t>
            </a:r>
            <a:endParaRPr lang="en-US" sz="1100" dirty="0"/>
          </a:p>
        </p:txBody>
      </p:sp>
      <p:sp>
        <p:nvSpPr>
          <p:cNvPr id="13" name="Text 11"/>
          <p:cNvSpPr/>
          <p:nvPr/>
        </p:nvSpPr>
        <p:spPr>
          <a:xfrm>
            <a:off x="1280160" y="4343400"/>
            <a:ext cx="4389120" cy="594360"/>
          </a:xfrm>
          <a:prstGeom prst="rect">
            <a:avLst/>
          </a:prstGeom>
          <a:noFill/>
          <a:ln/>
        </p:spPr>
        <p:txBody>
          <a:bodyPr wrap="square" rtlCol="0" anchor="t"/>
          <a:lstStyle/>
          <a:p>
            <a:pPr indent="0" marL="0">
              <a:buNone/>
            </a:pPr>
            <a:r>
              <a:rPr lang="en-US" sz="950" dirty="0">
                <a:solidFill>
                  <a:srgbClr val="475569"/>
                </a:solidFill>
                <a:latin typeface="Segoe UI" pitchFamily="34" charset="0"/>
                <a:ea typeface="Segoe UI" pitchFamily="34" charset="-122"/>
                <a:cs typeface="Segoe UI" pitchFamily="34" charset="-120"/>
              </a:rPr>
              <a:t>They are financially incentivized to maximize supplier volume, which guarantees lead spam and degrades buyer trust.</a:t>
            </a:r>
            <a:endParaRPr lang="en-US" sz="950" dirty="0"/>
          </a:p>
        </p:txBody>
      </p:sp>
      <p:sp>
        <p:nvSpPr>
          <p:cNvPr id="14" name="Text 12"/>
          <p:cNvSpPr/>
          <p:nvPr/>
        </p:nvSpPr>
        <p:spPr>
          <a:xfrm>
            <a:off x="1005840" y="4983480"/>
            <a:ext cx="4663440" cy="274320"/>
          </a:xfrm>
          <a:prstGeom prst="rect">
            <a:avLst/>
          </a:prstGeom>
          <a:noFill/>
          <a:ln/>
        </p:spPr>
        <p:txBody>
          <a:bodyPr wrap="square" rtlCol="0" anchor="t"/>
          <a:lstStyle/>
          <a:p>
            <a:pPr indent="0" marL="0">
              <a:buNone/>
            </a:pPr>
            <a:r>
              <a:rPr lang="en-US" sz="1100" b="1" dirty="0">
                <a:solidFill>
                  <a:srgbClr val="0F172A"/>
                </a:solidFill>
                <a:latin typeface="Segoe UI" pitchFamily="34" charset="0"/>
                <a:ea typeface="Segoe UI" pitchFamily="34" charset="-122"/>
                <a:cs typeface="Segoe UI" pitchFamily="34" charset="-120"/>
              </a:rPr>
              <a:t>❌ Cannot Pivot</a:t>
            </a:r>
            <a:endParaRPr lang="en-US" sz="1100" dirty="0"/>
          </a:p>
        </p:txBody>
      </p:sp>
      <p:sp>
        <p:nvSpPr>
          <p:cNvPr id="15" name="Text 13"/>
          <p:cNvSpPr/>
          <p:nvPr/>
        </p:nvSpPr>
        <p:spPr>
          <a:xfrm>
            <a:off x="1280160" y="5257800"/>
            <a:ext cx="4389120" cy="594360"/>
          </a:xfrm>
          <a:prstGeom prst="rect">
            <a:avLst/>
          </a:prstGeom>
          <a:noFill/>
          <a:ln/>
        </p:spPr>
        <p:txBody>
          <a:bodyPr wrap="square" rtlCol="0" anchor="t"/>
          <a:lstStyle/>
          <a:p>
            <a:pPr indent="0" marL="0">
              <a:buNone/>
            </a:pPr>
            <a:r>
              <a:rPr lang="en-US" sz="950" dirty="0">
                <a:solidFill>
                  <a:srgbClr val="475569"/>
                </a:solidFill>
                <a:latin typeface="Segoe UI" pitchFamily="34" charset="0"/>
                <a:ea typeface="Segoe UI" pitchFamily="34" charset="-122"/>
                <a:cs typeface="Segoe UI" pitchFamily="34" charset="-120"/>
              </a:rPr>
              <a:t>They cannot copy Artha’s un-purchasable trust badge without cannibalizing their core revenue.</a:t>
            </a:r>
            <a:endParaRPr lang="en-US" sz="950" dirty="0"/>
          </a:p>
        </p:txBody>
      </p:sp>
      <p:sp>
        <p:nvSpPr>
          <p:cNvPr id="16" name="Shape 14"/>
          <p:cNvSpPr/>
          <p:nvPr/>
        </p:nvSpPr>
        <p:spPr>
          <a:xfrm>
            <a:off x="6217920" y="1645920"/>
            <a:ext cx="5212080" cy="4389120"/>
          </a:xfrm>
          <a:prstGeom prst="roundRect">
            <a:avLst>
              <a:gd name="adj" fmla="val 3125"/>
            </a:avLst>
          </a:prstGeom>
          <a:solidFill>
            <a:srgbClr val="FFFFFF"/>
          </a:solidFill>
          <a:ln w="19050">
            <a:solidFill>
              <a:srgbClr val="059669"/>
            </a:solidFill>
            <a:prstDash val="solid"/>
          </a:ln>
        </p:spPr>
      </p:sp>
      <p:sp>
        <p:nvSpPr>
          <p:cNvPr id="17" name="Text 15"/>
          <p:cNvSpPr/>
          <p:nvPr/>
        </p:nvSpPr>
        <p:spPr>
          <a:xfrm>
            <a:off x="6492240" y="1828800"/>
            <a:ext cx="4663440" cy="320040"/>
          </a:xfrm>
          <a:prstGeom prst="rect">
            <a:avLst/>
          </a:prstGeom>
          <a:noFill/>
          <a:ln/>
        </p:spPr>
        <p:txBody>
          <a:bodyPr wrap="square" rtlCol="0" anchor="ctr"/>
          <a:lstStyle/>
          <a:p>
            <a:pPr indent="0" marL="0">
              <a:buNone/>
            </a:pPr>
            <a:r>
              <a:rPr lang="en-US" sz="1300" b="1" dirty="0">
                <a:solidFill>
                  <a:srgbClr val="059669"/>
                </a:solidFill>
                <a:latin typeface="Segoe UI" pitchFamily="34" charset="0"/>
                <a:ea typeface="Segoe UI" pitchFamily="34" charset="-122"/>
                <a:cs typeface="Segoe UI" pitchFamily="34" charset="-120"/>
              </a:rPr>
              <a:t>ARTHA’S COMPOUNDING DATA FLYWHEEL</a:t>
            </a:r>
            <a:endParaRPr lang="en-US" sz="1300" dirty="0"/>
          </a:p>
        </p:txBody>
      </p:sp>
      <p:sp>
        <p:nvSpPr>
          <p:cNvPr id="18" name="Text 16"/>
          <p:cNvSpPr/>
          <p:nvPr/>
        </p:nvSpPr>
        <p:spPr>
          <a:xfrm>
            <a:off x="6492240" y="2240280"/>
            <a:ext cx="4663440" cy="274320"/>
          </a:xfrm>
          <a:prstGeom prst="rect">
            <a:avLst/>
          </a:prstGeom>
          <a:noFill/>
          <a:ln/>
        </p:spPr>
        <p:txBody>
          <a:bodyPr wrap="square" rtlCol="0" anchor="t"/>
          <a:lstStyle/>
          <a:p>
            <a:pPr indent="0" marL="0">
              <a:buNone/>
            </a:pPr>
            <a:r>
              <a:rPr lang="en-US" sz="1100" b="1" dirty="0">
                <a:solidFill>
                  <a:srgbClr val="059669"/>
                </a:solidFill>
                <a:latin typeface="Segoe UI" pitchFamily="34" charset="0"/>
                <a:ea typeface="Segoe UI" pitchFamily="34" charset="-122"/>
                <a:cs typeface="Segoe UI" pitchFamily="34" charset="-120"/>
              </a:rPr>
              <a:t>✓ Revenue Aligned with Verification Quality</a:t>
            </a:r>
            <a:endParaRPr lang="en-US" sz="1100" dirty="0"/>
          </a:p>
        </p:txBody>
      </p:sp>
      <p:sp>
        <p:nvSpPr>
          <p:cNvPr id="19" name="Text 17"/>
          <p:cNvSpPr/>
          <p:nvPr/>
        </p:nvSpPr>
        <p:spPr>
          <a:xfrm>
            <a:off x="6766560" y="2514600"/>
            <a:ext cx="4389120" cy="594360"/>
          </a:xfrm>
          <a:prstGeom prst="rect">
            <a:avLst/>
          </a:prstGeom>
          <a:noFill/>
          <a:ln/>
        </p:spPr>
        <p:txBody>
          <a:bodyPr wrap="square" rtlCol="0" anchor="t"/>
          <a:lstStyle/>
          <a:p>
            <a:pPr indent="0" marL="0">
              <a:buNone/>
            </a:pPr>
            <a:r>
              <a:rPr lang="en-US" sz="950" dirty="0">
                <a:solidFill>
                  <a:srgbClr val="475569"/>
                </a:solidFill>
                <a:latin typeface="Segoe UI" pitchFamily="34" charset="0"/>
                <a:ea typeface="Segoe UI" pitchFamily="34" charset="-122"/>
                <a:cs typeface="Segoe UI" pitchFamily="34" charset="-120"/>
              </a:rPr>
              <a:t>We only monetize when data is verifiable and trusted by procurement.</a:t>
            </a:r>
            <a:endParaRPr lang="en-US" sz="950" dirty="0"/>
          </a:p>
        </p:txBody>
      </p:sp>
      <p:sp>
        <p:nvSpPr>
          <p:cNvPr id="20" name="Text 18"/>
          <p:cNvSpPr/>
          <p:nvPr/>
        </p:nvSpPr>
        <p:spPr>
          <a:xfrm>
            <a:off x="6492240" y="3154680"/>
            <a:ext cx="4663440" cy="274320"/>
          </a:xfrm>
          <a:prstGeom prst="rect">
            <a:avLst/>
          </a:prstGeom>
          <a:noFill/>
          <a:ln/>
        </p:spPr>
        <p:txBody>
          <a:bodyPr wrap="square" rtlCol="0" anchor="t"/>
          <a:lstStyle/>
          <a:p>
            <a:pPr indent="0" marL="0">
              <a:buNone/>
            </a:pPr>
            <a:r>
              <a:rPr lang="en-US" sz="1100" b="1" dirty="0">
                <a:solidFill>
                  <a:srgbClr val="059669"/>
                </a:solidFill>
                <a:latin typeface="Segoe UI" pitchFamily="34" charset="0"/>
                <a:ea typeface="Segoe UI" pitchFamily="34" charset="-122"/>
                <a:cs typeface="Segoe UI" pitchFamily="34" charset="-120"/>
              </a:rPr>
              <a:t>✓ Proprietary Field &amp; Registry Intelligence</a:t>
            </a:r>
            <a:endParaRPr lang="en-US" sz="1100" dirty="0"/>
          </a:p>
        </p:txBody>
      </p:sp>
      <p:sp>
        <p:nvSpPr>
          <p:cNvPr id="21" name="Text 19"/>
          <p:cNvSpPr/>
          <p:nvPr/>
        </p:nvSpPr>
        <p:spPr>
          <a:xfrm>
            <a:off x="6766560" y="3429000"/>
            <a:ext cx="4389120" cy="594360"/>
          </a:xfrm>
          <a:prstGeom prst="rect">
            <a:avLst/>
          </a:prstGeom>
          <a:noFill/>
          <a:ln/>
        </p:spPr>
        <p:txBody>
          <a:bodyPr wrap="square" rtlCol="0" anchor="t"/>
          <a:lstStyle/>
          <a:p>
            <a:pPr indent="0" marL="0">
              <a:buNone/>
            </a:pPr>
            <a:r>
              <a:rPr lang="en-US" sz="950" dirty="0">
                <a:solidFill>
                  <a:srgbClr val="475569"/>
                </a:solidFill>
                <a:latin typeface="Segoe UI" pitchFamily="34" charset="0"/>
                <a:ea typeface="Segoe UI" pitchFamily="34" charset="-122"/>
                <a:cs typeface="Segoe UI" pitchFamily="34" charset="-120"/>
              </a:rPr>
              <a:t>GPS-tagged walkthroughs, ISO 7064 checksums, and machinery audits cannot be scraped from the web.</a:t>
            </a:r>
            <a:endParaRPr lang="en-US" sz="950" dirty="0"/>
          </a:p>
        </p:txBody>
      </p:sp>
      <p:sp>
        <p:nvSpPr>
          <p:cNvPr id="22" name="Text 20"/>
          <p:cNvSpPr/>
          <p:nvPr/>
        </p:nvSpPr>
        <p:spPr>
          <a:xfrm>
            <a:off x="6492240" y="4069080"/>
            <a:ext cx="4663440" cy="274320"/>
          </a:xfrm>
          <a:prstGeom prst="rect">
            <a:avLst/>
          </a:prstGeom>
          <a:noFill/>
          <a:ln/>
        </p:spPr>
        <p:txBody>
          <a:bodyPr wrap="square" rtlCol="0" anchor="t"/>
          <a:lstStyle/>
          <a:p>
            <a:pPr indent="0" marL="0">
              <a:buNone/>
            </a:pPr>
            <a:r>
              <a:rPr lang="en-US" sz="1100" b="1" dirty="0">
                <a:solidFill>
                  <a:srgbClr val="059669"/>
                </a:solidFill>
                <a:latin typeface="Segoe UI" pitchFamily="34" charset="0"/>
                <a:ea typeface="Segoe UI" pitchFamily="34" charset="-122"/>
                <a:cs typeface="Segoe UI" pitchFamily="34" charset="-120"/>
              </a:rPr>
              <a:t>✓ Outcome-Driven Matching Improvement</a:t>
            </a:r>
            <a:endParaRPr lang="en-US" sz="1100" dirty="0"/>
          </a:p>
        </p:txBody>
      </p:sp>
      <p:sp>
        <p:nvSpPr>
          <p:cNvPr id="23" name="Text 21"/>
          <p:cNvSpPr/>
          <p:nvPr/>
        </p:nvSpPr>
        <p:spPr>
          <a:xfrm>
            <a:off x="6766560" y="4343400"/>
            <a:ext cx="4389120" cy="594360"/>
          </a:xfrm>
          <a:prstGeom prst="rect">
            <a:avLst/>
          </a:prstGeom>
          <a:noFill/>
          <a:ln/>
        </p:spPr>
        <p:txBody>
          <a:bodyPr wrap="square" rtlCol="0" anchor="t"/>
          <a:lstStyle/>
          <a:p>
            <a:pPr indent="0" marL="0">
              <a:buNone/>
            </a:pPr>
            <a:r>
              <a:rPr lang="en-US" sz="950" dirty="0">
                <a:solidFill>
                  <a:srgbClr val="475569"/>
                </a:solidFill>
                <a:latin typeface="Segoe UI" pitchFamily="34" charset="0"/>
                <a:ea typeface="Segoe UI" pitchFamily="34" charset="-122"/>
                <a:cs typeface="Segoe UI" pitchFamily="34" charset="-120"/>
              </a:rPr>
              <a:t>Every closed transaction feeds back into AI ranking weights, creating a compounding accuracy moat.</a:t>
            </a:r>
            <a:endParaRPr lang="en-US" sz="950" dirty="0"/>
          </a:p>
        </p:txBody>
      </p:sp>
      <p:sp>
        <p:nvSpPr>
          <p:cNvPr id="24" name="Text 22"/>
          <p:cNvSpPr/>
          <p:nvPr/>
        </p:nvSpPr>
        <p:spPr>
          <a:xfrm>
            <a:off x="6492240" y="4983480"/>
            <a:ext cx="4663440" cy="274320"/>
          </a:xfrm>
          <a:prstGeom prst="rect">
            <a:avLst/>
          </a:prstGeom>
          <a:noFill/>
          <a:ln/>
        </p:spPr>
        <p:txBody>
          <a:bodyPr wrap="square" rtlCol="0" anchor="t"/>
          <a:lstStyle/>
          <a:p>
            <a:pPr indent="0" marL="0">
              <a:buNone/>
            </a:pPr>
            <a:r>
              <a:rPr lang="en-US" sz="1100" b="1" dirty="0">
                <a:solidFill>
                  <a:srgbClr val="059669"/>
                </a:solidFill>
                <a:latin typeface="Segoe UI" pitchFamily="34" charset="0"/>
                <a:ea typeface="Segoe UI" pitchFamily="34" charset="-122"/>
                <a:cs typeface="Segoe UI" pitchFamily="34" charset="-120"/>
              </a:rPr>
              <a:t>✓ Un-purchasable Integrity Moat</a:t>
            </a:r>
            <a:endParaRPr lang="en-US" sz="1100" dirty="0"/>
          </a:p>
        </p:txBody>
      </p:sp>
      <p:sp>
        <p:nvSpPr>
          <p:cNvPr id="25" name="Text 23"/>
          <p:cNvSpPr/>
          <p:nvPr/>
        </p:nvSpPr>
        <p:spPr>
          <a:xfrm>
            <a:off x="6766560" y="5257800"/>
            <a:ext cx="4389120" cy="594360"/>
          </a:xfrm>
          <a:prstGeom prst="rect">
            <a:avLst/>
          </a:prstGeom>
          <a:noFill/>
          <a:ln/>
        </p:spPr>
        <p:txBody>
          <a:bodyPr wrap="square" rtlCol="0" anchor="t"/>
          <a:lstStyle/>
          <a:p>
            <a:pPr indent="0" marL="0">
              <a:buNone/>
            </a:pPr>
            <a:r>
              <a:rPr lang="en-US" sz="950" dirty="0">
                <a:solidFill>
                  <a:srgbClr val="475569"/>
                </a:solidFill>
                <a:latin typeface="Segoe UI" pitchFamily="34" charset="0"/>
                <a:ea typeface="Segoe UI" pitchFamily="34" charset="-122"/>
                <a:cs typeface="Segoe UI" pitchFamily="34" charset="-120"/>
              </a:rPr>
              <a:t>Because badges cannot be bought, high-quality export factories proactively seek Artha verification to stand out.</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365760"/>
            <a:ext cx="2286000" cy="320040"/>
          </a:xfrm>
          <a:prstGeom prst="roundRect">
            <a:avLst>
              <a:gd name="adj" fmla="val 42857"/>
            </a:avLst>
          </a:prstGeom>
          <a:solidFill>
            <a:srgbClr val="FFF7ED"/>
          </a:solidFill>
          <a:ln w="12700">
            <a:solidFill>
              <a:srgbClr val="EA580C"/>
            </a:solidFill>
            <a:prstDash val="solid"/>
          </a:ln>
        </p:spPr>
      </p:sp>
      <p:sp>
        <p:nvSpPr>
          <p:cNvPr id="3" name="Text 1"/>
          <p:cNvSpPr/>
          <p:nvPr/>
        </p:nvSpPr>
        <p:spPr>
          <a:xfrm>
            <a:off x="731520" y="365760"/>
            <a:ext cx="2286000" cy="320040"/>
          </a:xfrm>
          <a:prstGeom prst="rect">
            <a:avLst/>
          </a:prstGeom>
          <a:noFill/>
          <a:ln/>
        </p:spPr>
        <p:txBody>
          <a:bodyPr wrap="square" rtlCol="0" anchor="ctr"/>
          <a:lstStyle/>
          <a:p>
            <a:pPr algn="ctr" indent="0" marL="0">
              <a:buNone/>
            </a:pPr>
            <a:r>
              <a:rPr lang="en-US" sz="1000" b="1" dirty="0">
                <a:solidFill>
                  <a:srgbClr val="C2410C"/>
                </a:solidFill>
                <a:latin typeface="Segoe UI" pitchFamily="34" charset="0"/>
                <a:ea typeface="Segoe UI" pitchFamily="34" charset="-122"/>
                <a:cs typeface="Segoe UI" pitchFamily="34" charset="-120"/>
              </a:rPr>
              <a:t>CURRENT TRACTION &amp; PROOF</a:t>
            </a:r>
            <a:endParaRPr lang="en-US" sz="1000" dirty="0"/>
          </a:p>
        </p:txBody>
      </p:sp>
      <p:sp>
        <p:nvSpPr>
          <p:cNvPr id="4" name="Text 2"/>
          <p:cNvSpPr/>
          <p:nvPr/>
        </p:nvSpPr>
        <p:spPr>
          <a:xfrm>
            <a:off x="731520" y="731520"/>
            <a:ext cx="10515600" cy="502920"/>
          </a:xfrm>
          <a:prstGeom prst="rect">
            <a:avLst/>
          </a:prstGeom>
          <a:noFill/>
          <a:ln/>
        </p:spPr>
        <p:txBody>
          <a:bodyPr wrap="square" rtlCol="0" anchor="ctr"/>
          <a:lstStyle/>
          <a:p>
            <a:pPr indent="0" marL="0">
              <a:buNone/>
            </a:pPr>
            <a:r>
              <a:rPr lang="en-US" sz="2200" b="1" dirty="0">
                <a:solidFill>
                  <a:srgbClr val="0F172A"/>
                </a:solidFill>
                <a:latin typeface="Segoe UI" pitchFamily="34" charset="0"/>
                <a:ea typeface="Segoe UI" pitchFamily="34" charset="-122"/>
                <a:cs typeface="Segoe UI" pitchFamily="34" charset="-120"/>
              </a:rPr>
              <a:t>What Is Already Built: Solo Founder Execution</a:t>
            </a:r>
            <a:endParaRPr lang="en-US" sz="2200" dirty="0"/>
          </a:p>
        </p:txBody>
      </p:sp>
      <p:sp>
        <p:nvSpPr>
          <p:cNvPr id="5" name="Text 3"/>
          <p:cNvSpPr/>
          <p:nvPr/>
        </p:nvSpPr>
        <p:spPr>
          <a:xfrm>
            <a:off x="731520" y="1234440"/>
            <a:ext cx="10515600" cy="320040"/>
          </a:xfrm>
          <a:prstGeom prst="rect">
            <a:avLst/>
          </a:prstGeom>
          <a:noFill/>
          <a:ln/>
        </p:spPr>
        <p:txBody>
          <a:bodyPr wrap="square" rtlCol="0" anchor="ctr"/>
          <a:lstStyle/>
          <a:p>
            <a:pPr indent="0" marL="0">
              <a:buNone/>
            </a:pPr>
            <a:r>
              <a:rPr lang="en-US" sz="1200" dirty="0">
                <a:solidFill>
                  <a:srgbClr val="475569"/>
                </a:solidFill>
                <a:latin typeface="Segoe UI" pitchFamily="34" charset="0"/>
                <a:ea typeface="Segoe UI" pitchFamily="34" charset="-122"/>
                <a:cs typeface="Segoe UI" pitchFamily="34" charset="-120"/>
              </a:rPr>
              <a:t>Demonstrable, production-grade Next.js codebase built to institutional standards.</a:t>
            </a:r>
            <a:endParaRPr lang="en-US" sz="1200" dirty="0"/>
          </a:p>
        </p:txBody>
      </p:sp>
      <p:sp>
        <p:nvSpPr>
          <p:cNvPr id="6" name="Shape 4"/>
          <p:cNvSpPr/>
          <p:nvPr/>
        </p:nvSpPr>
        <p:spPr>
          <a:xfrm>
            <a:off x="731520" y="1645920"/>
            <a:ext cx="3383280" cy="4389120"/>
          </a:xfrm>
          <a:prstGeom prst="roundRect">
            <a:avLst>
              <a:gd name="adj" fmla="val 4054"/>
            </a:avLst>
          </a:prstGeom>
          <a:solidFill>
            <a:srgbClr val="FFFFFF"/>
          </a:solidFill>
          <a:ln w="19050">
            <a:solidFill>
              <a:srgbClr val="059669"/>
            </a:solidFill>
            <a:prstDash val="solid"/>
          </a:ln>
        </p:spPr>
      </p:sp>
      <p:sp>
        <p:nvSpPr>
          <p:cNvPr id="7" name="Text 5"/>
          <p:cNvSpPr/>
          <p:nvPr/>
        </p:nvSpPr>
        <p:spPr>
          <a:xfrm>
            <a:off x="960120" y="1828800"/>
            <a:ext cx="2926080" cy="320040"/>
          </a:xfrm>
          <a:prstGeom prst="rect">
            <a:avLst/>
          </a:prstGeom>
          <a:noFill/>
          <a:ln/>
        </p:spPr>
        <p:txBody>
          <a:bodyPr wrap="square" rtlCol="0" anchor="t"/>
          <a:lstStyle/>
          <a:p>
            <a:pPr indent="0" marL="0">
              <a:buNone/>
            </a:pPr>
            <a:r>
              <a:rPr lang="en-US" sz="1100" b="1" dirty="0">
                <a:solidFill>
                  <a:srgbClr val="059669"/>
                </a:solidFill>
                <a:latin typeface="Segoe UI" pitchFamily="34" charset="0"/>
                <a:ea typeface="Segoe UI" pitchFamily="34" charset="-122"/>
                <a:cs typeface="Segoe UI" pitchFamily="34" charset="-120"/>
              </a:rPr>
              <a:t>BUILT &amp; OPERATIONAL (LIVE)</a:t>
            </a:r>
            <a:endParaRPr lang="en-US" sz="1100" dirty="0"/>
          </a:p>
        </p:txBody>
      </p:sp>
      <p:sp>
        <p:nvSpPr>
          <p:cNvPr id="8" name="Shape 6"/>
          <p:cNvSpPr/>
          <p:nvPr/>
        </p:nvSpPr>
        <p:spPr>
          <a:xfrm>
            <a:off x="960120" y="2194560"/>
            <a:ext cx="2926080" cy="274320"/>
          </a:xfrm>
          <a:prstGeom prst="roundRect">
            <a:avLst>
              <a:gd name="adj" fmla="val 33333"/>
            </a:avLst>
          </a:prstGeom>
          <a:solidFill>
            <a:srgbClr val="ECFDF5"/>
          </a:solidFill>
          <a:ln w="12700">
            <a:solidFill>
              <a:srgbClr val="059669"/>
            </a:solidFill>
            <a:prstDash val="solid"/>
          </a:ln>
        </p:spPr>
      </p:sp>
      <p:sp>
        <p:nvSpPr>
          <p:cNvPr id="9" name="Text 7"/>
          <p:cNvSpPr/>
          <p:nvPr/>
        </p:nvSpPr>
        <p:spPr>
          <a:xfrm>
            <a:off x="960120" y="2194560"/>
            <a:ext cx="2926080" cy="274320"/>
          </a:xfrm>
          <a:prstGeom prst="rect">
            <a:avLst/>
          </a:prstGeom>
          <a:noFill/>
          <a:ln/>
        </p:spPr>
        <p:txBody>
          <a:bodyPr wrap="square" rtlCol="0" anchor="ctr"/>
          <a:lstStyle/>
          <a:p>
            <a:pPr algn="ctr" indent="0" marL="0">
              <a:buNone/>
            </a:pPr>
            <a:r>
              <a:rPr lang="en-US" sz="900" b="1" dirty="0">
                <a:solidFill>
                  <a:srgbClr val="059669"/>
                </a:solidFill>
                <a:latin typeface="Segoe UI" pitchFamily="34" charset="0"/>
                <a:ea typeface="Segoe UI" pitchFamily="34" charset="-122"/>
                <a:cs typeface="Segoe UI" pitchFamily="34" charset="-120"/>
              </a:rPr>
              <a:t>Zero TypeScript Errors</a:t>
            </a:r>
            <a:endParaRPr lang="en-US" sz="900" dirty="0"/>
          </a:p>
        </p:txBody>
      </p:sp>
      <p:sp>
        <p:nvSpPr>
          <p:cNvPr id="10" name="Text 8"/>
          <p:cNvSpPr/>
          <p:nvPr/>
        </p:nvSpPr>
        <p:spPr>
          <a:xfrm>
            <a:off x="960120" y="2606040"/>
            <a:ext cx="2926080" cy="3291840"/>
          </a:xfrm>
          <a:prstGeom prst="rect">
            <a:avLst/>
          </a:prstGeom>
          <a:noFill/>
          <a:ln/>
        </p:spPr>
        <p:txBody>
          <a:bodyPr wrap="square" rtlCol="0" anchor="t"/>
          <a:lstStyle/>
          <a:p>
            <a:pPr marL="342900" indent="-342900">
              <a:buSzPct val="100000"/>
              <a:buChar char="•"/>
            </a:pPr>
            <a:r>
              <a:rPr lang="en-US" sz="950" dirty="0">
                <a:solidFill>
                  <a:srgbClr val="475569"/>
                </a:solidFill>
                <a:latin typeface="Segoe UI" pitchFamily="34" charset="0"/>
                <a:ea typeface="Segoe UI" pitchFamily="34" charset="-122"/>
                <a:cs typeface="Segoe UI" pitchFamily="34" charset="-120"/>
              </a:rPr>
              <a:t>95 production routes (27 UI pages + 66 API endpoints)
</a:t>
            </a:r>
            <a:endParaRPr lang="en-US" sz="950" dirty="0"/>
          </a:p>
          <a:p>
            <a:pPr marL="342900" indent="-342900">
              <a:buSzPct val="100000"/>
              <a:buChar char="•"/>
            </a:pPr>
            <a:r>
              <a:rPr lang="en-US" sz="950" dirty="0">
                <a:solidFill>
                  <a:srgbClr val="475569"/>
                </a:solidFill>
                <a:latin typeface="Segoe UI" pitchFamily="34" charset="0"/>
                <a:ea typeface="Segoe UI" pitchFamily="34" charset="-122"/>
                <a:cs typeface="Segoe UI" pitchFamily="34" charset="-120"/>
              </a:rPr>
              <a:t>47 React 19 UI components + 32 backend modules
</a:t>
            </a:r>
            <a:endParaRPr lang="en-US" sz="950" dirty="0"/>
          </a:p>
          <a:p>
            <a:pPr marL="342900" indent="-342900">
              <a:buSzPct val="100000"/>
              <a:buChar char="•"/>
            </a:pPr>
            <a:r>
              <a:rPr lang="en-US" sz="950" dirty="0">
                <a:solidFill>
                  <a:srgbClr val="475569"/>
                </a:solidFill>
                <a:latin typeface="Segoe UI" pitchFamily="34" charset="0"/>
                <a:ea typeface="Segoe UI" pitchFamily="34" charset="-122"/>
                <a:cs typeface="Segoe UI" pitchFamily="34" charset="-120"/>
              </a:rPr>
              <a:t>7-State verification state machine in code
</a:t>
            </a:r>
            <a:endParaRPr lang="en-US" sz="950" dirty="0"/>
          </a:p>
          <a:p>
            <a:pPr marL="342900" indent="-342900">
              <a:buSzPct val="100000"/>
              <a:buChar char="•"/>
            </a:pPr>
            <a:r>
              <a:rPr lang="en-US" sz="950" dirty="0">
                <a:solidFill>
                  <a:srgbClr val="475569"/>
                </a:solidFill>
                <a:latin typeface="Segoe UI" pitchFamily="34" charset="0"/>
                <a:ea typeface="Segoe UI" pitchFamily="34" charset="-122"/>
                <a:cs typeface="Segoe UI" pitchFamily="34" charset="-120"/>
              </a:rPr>
              <a:t>100-Point quality score with freshness decay
</a:t>
            </a:r>
            <a:endParaRPr lang="en-US" sz="950" dirty="0"/>
          </a:p>
          <a:p>
            <a:pPr marL="342900" indent="-342900">
              <a:buSzPct val="100000"/>
              <a:buChar char="•"/>
            </a:pPr>
            <a:r>
              <a:rPr lang="en-US" sz="950" dirty="0">
                <a:solidFill>
                  <a:srgbClr val="475569"/>
                </a:solidFill>
                <a:latin typeface="Segoe UI" pitchFamily="34" charset="0"/>
                <a:ea typeface="Segoe UI" pitchFamily="34" charset="-122"/>
                <a:cs typeface="Segoe UI" pitchFamily="34" charset="-120"/>
              </a:rPr>
              <a:t>ISO 7064 GSTIN checksum validator (offline active)
</a:t>
            </a:r>
            <a:endParaRPr lang="en-US" sz="950" dirty="0"/>
          </a:p>
          <a:p>
            <a:pPr marL="342900" indent="-342900">
              <a:buSzPct val="100000"/>
              <a:buChar char="•"/>
            </a:pPr>
            <a:r>
              <a:rPr lang="en-US" sz="950" dirty="0">
                <a:solidFill>
                  <a:srgbClr val="475569"/>
                </a:solidFill>
                <a:latin typeface="Segoe UI" pitchFamily="34" charset="0"/>
                <a:ea typeface="Segoe UI" pitchFamily="34" charset="-122"/>
                <a:cs typeface="Segoe UI" pitchFamily="34" charset="-120"/>
              </a:rPr>
              <a:t>Hybrid AI matching engine (rule-based + GPT-4o fallback)
</a:t>
            </a:r>
            <a:endParaRPr lang="en-US" sz="950" dirty="0"/>
          </a:p>
          <a:p>
            <a:pPr marL="342900" indent="-342900">
              <a:buSzPct val="100000"/>
              <a:buChar char="•"/>
            </a:pPr>
            <a:r>
              <a:rPr lang="en-US" sz="950" dirty="0">
                <a:solidFill>
                  <a:srgbClr val="475569"/>
                </a:solidFill>
                <a:latin typeface="Segoe UI" pitchFamily="34" charset="0"/>
                <a:ea typeface="Segoe UI" pitchFamily="34" charset="-122"/>
                <a:cs typeface="Segoe UI" pitchFamily="34" charset="-120"/>
              </a:rPr>
              <a:t>8-Layer security (CSRF, scrypt hashing, OTP, rate limits)
</a:t>
            </a:r>
            <a:endParaRPr lang="en-US" sz="950" dirty="0"/>
          </a:p>
        </p:txBody>
      </p:sp>
      <p:sp>
        <p:nvSpPr>
          <p:cNvPr id="11" name="Shape 9"/>
          <p:cNvSpPr/>
          <p:nvPr/>
        </p:nvSpPr>
        <p:spPr>
          <a:xfrm>
            <a:off x="4389120" y="1645920"/>
            <a:ext cx="3383280" cy="4389120"/>
          </a:xfrm>
          <a:prstGeom prst="roundRect">
            <a:avLst>
              <a:gd name="adj" fmla="val 4054"/>
            </a:avLst>
          </a:prstGeom>
          <a:solidFill>
            <a:srgbClr val="FFFFFF"/>
          </a:solidFill>
          <a:ln w="19050">
            <a:solidFill>
              <a:srgbClr val="2563EB"/>
            </a:solidFill>
            <a:prstDash val="solid"/>
          </a:ln>
        </p:spPr>
      </p:sp>
      <p:sp>
        <p:nvSpPr>
          <p:cNvPr id="12" name="Text 10"/>
          <p:cNvSpPr/>
          <p:nvPr/>
        </p:nvSpPr>
        <p:spPr>
          <a:xfrm>
            <a:off x="4617720" y="1828800"/>
            <a:ext cx="2926080" cy="320040"/>
          </a:xfrm>
          <a:prstGeom prst="rect">
            <a:avLst/>
          </a:prstGeom>
          <a:noFill/>
          <a:ln/>
        </p:spPr>
        <p:txBody>
          <a:bodyPr wrap="square" rtlCol="0" anchor="t"/>
          <a:lstStyle/>
          <a:p>
            <a:pPr indent="0" marL="0">
              <a:buNone/>
            </a:pPr>
            <a:r>
              <a:rPr lang="en-US" sz="1100" b="1" dirty="0">
                <a:solidFill>
                  <a:srgbClr val="2563EB"/>
                </a:solidFill>
                <a:latin typeface="Segoe UI" pitchFamily="34" charset="0"/>
                <a:ea typeface="Segoe UI" pitchFamily="34" charset="-122"/>
                <a:cs typeface="Segoe UI" pitchFamily="34" charset="-120"/>
              </a:rPr>
              <a:t>CONFIGURED &amp; READY (API LINK)</a:t>
            </a:r>
            <a:endParaRPr lang="en-US" sz="1100" dirty="0"/>
          </a:p>
        </p:txBody>
      </p:sp>
      <p:sp>
        <p:nvSpPr>
          <p:cNvPr id="13" name="Shape 11"/>
          <p:cNvSpPr/>
          <p:nvPr/>
        </p:nvSpPr>
        <p:spPr>
          <a:xfrm>
            <a:off x="4617720" y="2194560"/>
            <a:ext cx="2926080" cy="274320"/>
          </a:xfrm>
          <a:prstGeom prst="roundRect">
            <a:avLst>
              <a:gd name="adj" fmla="val 33333"/>
            </a:avLst>
          </a:prstGeom>
          <a:solidFill>
            <a:srgbClr val="EFF6FF"/>
          </a:solidFill>
          <a:ln w="12700">
            <a:solidFill>
              <a:srgbClr val="2563EB"/>
            </a:solidFill>
            <a:prstDash val="solid"/>
          </a:ln>
        </p:spPr>
      </p:sp>
      <p:sp>
        <p:nvSpPr>
          <p:cNvPr id="14" name="Text 12"/>
          <p:cNvSpPr/>
          <p:nvPr/>
        </p:nvSpPr>
        <p:spPr>
          <a:xfrm>
            <a:off x="4617720" y="2194560"/>
            <a:ext cx="2926080" cy="274320"/>
          </a:xfrm>
          <a:prstGeom prst="rect">
            <a:avLst/>
          </a:prstGeom>
          <a:noFill/>
          <a:ln/>
        </p:spPr>
        <p:txBody>
          <a:bodyPr wrap="square" rtlCol="0" anchor="ctr"/>
          <a:lstStyle/>
          <a:p>
            <a:pPr algn="ctr" indent="0" marL="0">
              <a:buNone/>
            </a:pPr>
            <a:r>
              <a:rPr lang="en-US" sz="900" b="1" dirty="0">
                <a:solidFill>
                  <a:srgbClr val="2563EB"/>
                </a:solidFill>
                <a:latin typeface="Segoe UI" pitchFamily="34" charset="0"/>
                <a:ea typeface="Segoe UI" pitchFamily="34" charset="-122"/>
                <a:cs typeface="Segoe UI" pitchFamily="34" charset="-120"/>
              </a:rPr>
              <a:t>Infrastructure Scaffolded</a:t>
            </a:r>
            <a:endParaRPr lang="en-US" sz="900" dirty="0"/>
          </a:p>
        </p:txBody>
      </p:sp>
      <p:sp>
        <p:nvSpPr>
          <p:cNvPr id="15" name="Text 13"/>
          <p:cNvSpPr/>
          <p:nvPr/>
        </p:nvSpPr>
        <p:spPr>
          <a:xfrm>
            <a:off x="4617720" y="2606040"/>
            <a:ext cx="2926080" cy="3291840"/>
          </a:xfrm>
          <a:prstGeom prst="rect">
            <a:avLst/>
          </a:prstGeom>
          <a:noFill/>
          <a:ln/>
        </p:spPr>
        <p:txBody>
          <a:bodyPr wrap="square" rtlCol="0" anchor="t"/>
          <a:lstStyle/>
          <a:p>
            <a:pPr marL="342900" indent="-342900">
              <a:buSzPct val="100000"/>
              <a:buChar char="•"/>
            </a:pPr>
            <a:r>
              <a:rPr lang="en-US" sz="950" dirty="0">
                <a:solidFill>
                  <a:srgbClr val="475569"/>
                </a:solidFill>
                <a:latin typeface="Segoe UI" pitchFamily="34" charset="0"/>
                <a:ea typeface="Segoe UI" pitchFamily="34" charset="-122"/>
                <a:cs typeface="Segoe UI" pitchFamily="34" charset="-120"/>
              </a:rPr>
              <a:t>Dual-mode database adapter (Offline JSON ⇄ Supabase PostgreSQL)
</a:t>
            </a:r>
            <a:endParaRPr lang="en-US" sz="950" dirty="0"/>
          </a:p>
          <a:p>
            <a:pPr marL="342900" indent="-342900">
              <a:buSzPct val="100000"/>
              <a:buChar char="•"/>
            </a:pPr>
            <a:r>
              <a:rPr lang="en-US" sz="950" dirty="0">
                <a:solidFill>
                  <a:srgbClr val="475569"/>
                </a:solidFill>
                <a:latin typeface="Segoe UI" pitchFamily="34" charset="0"/>
                <a:ea typeface="Segoe UI" pitchFamily="34" charset="-122"/>
                <a:cs typeface="Segoe UI" pitchFamily="34" charset="-120"/>
              </a:rPr>
              <a:t>Sandbox.co.in GSTIN &amp; IEC live lookup module
</a:t>
            </a:r>
            <a:endParaRPr lang="en-US" sz="950" dirty="0"/>
          </a:p>
          <a:p>
            <a:pPr marL="342900" indent="-342900">
              <a:buSzPct val="100000"/>
              <a:buChar char="•"/>
            </a:pPr>
            <a:r>
              <a:rPr lang="en-US" sz="950" dirty="0">
                <a:solidFill>
                  <a:srgbClr val="475569"/>
                </a:solidFill>
                <a:latin typeface="Segoe UI" pitchFamily="34" charset="0"/>
                <a:ea typeface="Segoe UI" pitchFamily="34" charset="-122"/>
                <a:cs typeface="Segoe UI" pitchFamily="34" charset="-120"/>
              </a:rPr>
              <a:t>Resend transactional email notification pipeline
</a:t>
            </a:r>
            <a:endParaRPr lang="en-US" sz="950" dirty="0"/>
          </a:p>
          <a:p>
            <a:pPr marL="342900" indent="-342900">
              <a:buSzPct val="100000"/>
              <a:buChar char="•"/>
            </a:pPr>
            <a:r>
              <a:rPr lang="en-US" sz="950" dirty="0">
                <a:solidFill>
                  <a:srgbClr val="475569"/>
                </a:solidFill>
                <a:latin typeface="Segoe UI" pitchFamily="34" charset="0"/>
                <a:ea typeface="Segoe UI" pitchFamily="34" charset="-122"/>
                <a:cs typeface="Segoe UI" pitchFamily="34" charset="-120"/>
              </a:rPr>
              <a:t>Razorpay payment gateway order creation flow
</a:t>
            </a:r>
            <a:endParaRPr lang="en-US" sz="950" dirty="0"/>
          </a:p>
          <a:p>
            <a:pPr marL="342900" indent="-342900">
              <a:buSzPct val="100000"/>
              <a:buChar char="•"/>
            </a:pPr>
            <a:r>
              <a:rPr lang="en-US" sz="950" dirty="0">
                <a:solidFill>
                  <a:srgbClr val="475569"/>
                </a:solidFill>
                <a:latin typeface="Segoe UI" pitchFamily="34" charset="0"/>
                <a:ea typeface="Segoe UI" pitchFamily="34" charset="-122"/>
                <a:cs typeface="Segoe UI" pitchFamily="34" charset="-120"/>
              </a:rPr>
              <a:t>Document type classifier (10 Indian export document formats)
</a:t>
            </a:r>
            <a:endParaRPr lang="en-US" sz="950" dirty="0"/>
          </a:p>
        </p:txBody>
      </p:sp>
      <p:sp>
        <p:nvSpPr>
          <p:cNvPr id="16" name="Shape 14"/>
          <p:cNvSpPr/>
          <p:nvPr/>
        </p:nvSpPr>
        <p:spPr>
          <a:xfrm>
            <a:off x="8046720" y="1645920"/>
            <a:ext cx="3383280" cy="4389120"/>
          </a:xfrm>
          <a:prstGeom prst="roundRect">
            <a:avLst>
              <a:gd name="adj" fmla="val 4054"/>
            </a:avLst>
          </a:prstGeom>
          <a:solidFill>
            <a:srgbClr val="FFFFFF"/>
          </a:solidFill>
          <a:ln w="19050">
            <a:solidFill>
              <a:srgbClr val="EA580C"/>
            </a:solidFill>
            <a:prstDash val="solid"/>
          </a:ln>
        </p:spPr>
      </p:sp>
      <p:sp>
        <p:nvSpPr>
          <p:cNvPr id="17" name="Text 15"/>
          <p:cNvSpPr/>
          <p:nvPr/>
        </p:nvSpPr>
        <p:spPr>
          <a:xfrm>
            <a:off x="8275320" y="1828800"/>
            <a:ext cx="2926080" cy="320040"/>
          </a:xfrm>
          <a:prstGeom prst="rect">
            <a:avLst/>
          </a:prstGeom>
          <a:noFill/>
          <a:ln/>
        </p:spPr>
        <p:txBody>
          <a:bodyPr wrap="square" rtlCol="0" anchor="t"/>
          <a:lstStyle/>
          <a:p>
            <a:pPr indent="0" marL="0">
              <a:buNone/>
            </a:pPr>
            <a:r>
              <a:rPr lang="en-US" sz="1100" b="1" dirty="0">
                <a:solidFill>
                  <a:srgbClr val="EA580C"/>
                </a:solidFill>
                <a:latin typeface="Segoe UI" pitchFamily="34" charset="0"/>
                <a:ea typeface="Segoe UI" pitchFamily="34" charset="-122"/>
                <a:cs typeface="Segoe UI" pitchFamily="34" charset="-120"/>
              </a:rPr>
              <a:t>NEXT WITH PIERC SUPPORT</a:t>
            </a:r>
            <a:endParaRPr lang="en-US" sz="1100" dirty="0"/>
          </a:p>
        </p:txBody>
      </p:sp>
      <p:sp>
        <p:nvSpPr>
          <p:cNvPr id="18" name="Shape 16"/>
          <p:cNvSpPr/>
          <p:nvPr/>
        </p:nvSpPr>
        <p:spPr>
          <a:xfrm>
            <a:off x="8275320" y="2194560"/>
            <a:ext cx="2926080" cy="274320"/>
          </a:xfrm>
          <a:prstGeom prst="roundRect">
            <a:avLst>
              <a:gd name="adj" fmla="val 33333"/>
            </a:avLst>
          </a:prstGeom>
          <a:solidFill>
            <a:srgbClr val="FFF7ED"/>
          </a:solidFill>
          <a:ln w="12700">
            <a:solidFill>
              <a:srgbClr val="EA580C"/>
            </a:solidFill>
            <a:prstDash val="solid"/>
          </a:ln>
        </p:spPr>
      </p:sp>
      <p:sp>
        <p:nvSpPr>
          <p:cNvPr id="19" name="Text 17"/>
          <p:cNvSpPr/>
          <p:nvPr/>
        </p:nvSpPr>
        <p:spPr>
          <a:xfrm>
            <a:off x="8275320" y="2194560"/>
            <a:ext cx="2926080" cy="274320"/>
          </a:xfrm>
          <a:prstGeom prst="rect">
            <a:avLst/>
          </a:prstGeom>
          <a:noFill/>
          <a:ln/>
        </p:spPr>
        <p:txBody>
          <a:bodyPr wrap="square" rtlCol="0" anchor="ctr"/>
          <a:lstStyle/>
          <a:p>
            <a:pPr algn="ctr" indent="0" marL="0">
              <a:buNone/>
            </a:pPr>
            <a:r>
              <a:rPr lang="en-US" sz="900" b="1" dirty="0">
                <a:solidFill>
                  <a:srgbClr val="EA580C"/>
                </a:solidFill>
                <a:latin typeface="Segoe UI" pitchFamily="34" charset="0"/>
                <a:ea typeface="Segoe UI" pitchFamily="34" charset="-122"/>
                <a:cs typeface="Segoe UI" pitchFamily="34" charset="-120"/>
              </a:rPr>
              <a:t>Field Ops &amp; Liquidity</a:t>
            </a:r>
            <a:endParaRPr lang="en-US" sz="900" dirty="0"/>
          </a:p>
        </p:txBody>
      </p:sp>
      <p:sp>
        <p:nvSpPr>
          <p:cNvPr id="20" name="Text 18"/>
          <p:cNvSpPr/>
          <p:nvPr/>
        </p:nvSpPr>
        <p:spPr>
          <a:xfrm>
            <a:off x="8275320" y="2606040"/>
            <a:ext cx="2926080" cy="3291840"/>
          </a:xfrm>
          <a:prstGeom prst="rect">
            <a:avLst/>
          </a:prstGeom>
          <a:noFill/>
          <a:ln/>
        </p:spPr>
        <p:txBody>
          <a:bodyPr wrap="square" rtlCol="0" anchor="t"/>
          <a:lstStyle/>
          <a:p>
            <a:pPr marL="342900" indent="-342900">
              <a:buSzPct val="100000"/>
              <a:buChar char="•"/>
            </a:pPr>
            <a:r>
              <a:rPr lang="en-US" sz="950" dirty="0">
                <a:solidFill>
                  <a:srgbClr val="475569"/>
                </a:solidFill>
                <a:latin typeface="Segoe UI" pitchFamily="34" charset="0"/>
                <a:ea typeface="Segoe UI" pitchFamily="34" charset="-122"/>
                <a:cs typeface="Segoe UI" pitchFamily="34" charset="-120"/>
              </a:rPr>
              <a:t>Onboard 50 verified factories in Makarpura GIDC
</a:t>
            </a:r>
            <a:endParaRPr lang="en-US" sz="950" dirty="0"/>
          </a:p>
          <a:p>
            <a:pPr marL="342900" indent="-342900">
              <a:buSzPct val="100000"/>
              <a:buChar char="•"/>
            </a:pPr>
            <a:r>
              <a:rPr lang="en-US" sz="950" dirty="0">
                <a:solidFill>
                  <a:srgbClr val="475569"/>
                </a:solidFill>
                <a:latin typeface="Segoe UI" pitchFamily="34" charset="0"/>
                <a:ea typeface="Segoe UI" pitchFamily="34" charset="-122"/>
                <a:cs typeface="Segoe UI" pitchFamily="34" charset="-120"/>
              </a:rPr>
              <a:t>Activate production Supabase DB &amp; live GSP API keys
</a:t>
            </a:r>
            <a:endParaRPr lang="en-US" sz="950" dirty="0"/>
          </a:p>
          <a:p>
            <a:pPr marL="342900" indent="-342900">
              <a:buSzPct val="100000"/>
              <a:buChar char="•"/>
            </a:pPr>
            <a:r>
              <a:rPr lang="en-US" sz="950" dirty="0">
                <a:solidFill>
                  <a:srgbClr val="475569"/>
                </a:solidFill>
                <a:latin typeface="Segoe UI" pitchFamily="34" charset="0"/>
                <a:ea typeface="Segoe UI" pitchFamily="34" charset="-122"/>
                <a:cs typeface="Segoe UI" pitchFamily="34" charset="-120"/>
              </a:rPr>
              <a:t>LinkedIn outreach to 200 European/US procurement managers
</a:t>
            </a:r>
            <a:endParaRPr lang="en-US" sz="950" dirty="0"/>
          </a:p>
          <a:p>
            <a:pPr marL="342900" indent="-342900">
              <a:buSzPct val="100000"/>
              <a:buChar char="•"/>
            </a:pPr>
            <a:r>
              <a:rPr lang="en-US" sz="950" dirty="0">
                <a:solidFill>
                  <a:srgbClr val="475569"/>
                </a:solidFill>
                <a:latin typeface="Segoe UI" pitchFamily="34" charset="0"/>
                <a:ea typeface="Segoe UI" pitchFamily="34" charset="-122"/>
                <a:cs typeface="Segoe UI" pitchFamily="34" charset="-120"/>
              </a:rPr>
              <a:t>Execute first 5 real RFQs matched to verified factories
</a:t>
            </a:r>
            <a:endParaRPr lang="en-US" sz="950" dirty="0"/>
          </a:p>
          <a:p>
            <a:pPr marL="342900" indent="-342900">
              <a:buSzPct val="100000"/>
              <a:buChar char="•"/>
            </a:pPr>
            <a:r>
              <a:rPr lang="en-US" sz="950" dirty="0">
                <a:solidFill>
                  <a:srgbClr val="475569"/>
                </a:solidFill>
                <a:latin typeface="Segoe UI" pitchFamily="34" charset="0"/>
                <a:ea typeface="Segoe UI" pitchFamily="34" charset="-122"/>
                <a:cs typeface="Segoe UI" pitchFamily="34" charset="-120"/>
              </a:rPr>
              <a:t>Hire 2 Parul University developer interns
</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731520" y="365760"/>
            <a:ext cx="2194560" cy="320040"/>
          </a:xfrm>
          <a:prstGeom prst="roundRect">
            <a:avLst>
              <a:gd name="adj" fmla="val 42857"/>
            </a:avLst>
          </a:prstGeom>
          <a:solidFill>
            <a:srgbClr val="1E293B"/>
          </a:solidFill>
          <a:ln w="12700">
            <a:solidFill>
              <a:srgbClr val="EA580C"/>
            </a:solidFill>
            <a:prstDash val="solid"/>
          </a:ln>
        </p:spPr>
      </p:sp>
      <p:sp>
        <p:nvSpPr>
          <p:cNvPr id="3" name="Text 1"/>
          <p:cNvSpPr/>
          <p:nvPr/>
        </p:nvSpPr>
        <p:spPr>
          <a:xfrm>
            <a:off x="731520" y="365760"/>
            <a:ext cx="2194560" cy="320040"/>
          </a:xfrm>
          <a:prstGeom prst="rect">
            <a:avLst/>
          </a:prstGeom>
          <a:noFill/>
          <a:ln/>
        </p:spPr>
        <p:txBody>
          <a:bodyPr wrap="square" rtlCol="0" anchor="ctr"/>
          <a:lstStyle/>
          <a:p>
            <a:pPr algn="ctr" indent="0" marL="0">
              <a:buNone/>
            </a:pPr>
            <a:r>
              <a:rPr lang="en-US" sz="1000" b="1" dirty="0">
                <a:solidFill>
                  <a:srgbClr val="EA580C"/>
                </a:solidFill>
                <a:latin typeface="Segoe UI" pitchFamily="34" charset="0"/>
                <a:ea typeface="Segoe UI" pitchFamily="34" charset="-122"/>
                <a:cs typeface="Segoe UI" pitchFamily="34" charset="-120"/>
              </a:rPr>
              <a:t>THE PROPOSAL &amp; ASK</a:t>
            </a:r>
            <a:endParaRPr lang="en-US" sz="1000" dirty="0"/>
          </a:p>
        </p:txBody>
      </p:sp>
      <p:sp>
        <p:nvSpPr>
          <p:cNvPr id="4" name="Text 2"/>
          <p:cNvSpPr/>
          <p:nvPr/>
        </p:nvSpPr>
        <p:spPr>
          <a:xfrm>
            <a:off x="731520" y="731520"/>
            <a:ext cx="10515600" cy="502920"/>
          </a:xfrm>
          <a:prstGeom prst="rect">
            <a:avLst/>
          </a:prstGeom>
          <a:noFill/>
          <a:ln/>
        </p:spPr>
        <p:txBody>
          <a:bodyPr wrap="square" rtlCol="0" anchor="ctr"/>
          <a:lstStyle/>
          <a:p>
            <a:pPr indent="0" marL="0">
              <a:buNone/>
            </a:pPr>
            <a:r>
              <a:rPr lang="en-US" sz="2200" b="1" dirty="0">
                <a:solidFill>
                  <a:srgbClr val="FFFFFF"/>
                </a:solidFill>
                <a:latin typeface="Segoe UI" pitchFamily="34" charset="0"/>
                <a:ea typeface="Segoe UI" pitchFamily="34" charset="-122"/>
                <a:cs typeface="Segoe UI" pitchFamily="34" charset="-120"/>
              </a:rPr>
              <a:t>The Ask: PIERC Idea-Stage Incubation &amp; ₹10L Grant Support</a:t>
            </a:r>
            <a:endParaRPr lang="en-US" sz="2200" dirty="0"/>
          </a:p>
        </p:txBody>
      </p:sp>
      <p:sp>
        <p:nvSpPr>
          <p:cNvPr id="5" name="Shape 3"/>
          <p:cNvSpPr/>
          <p:nvPr/>
        </p:nvSpPr>
        <p:spPr>
          <a:xfrm>
            <a:off x="731520" y="1371600"/>
            <a:ext cx="5120640" cy="3840480"/>
          </a:xfrm>
          <a:prstGeom prst="roundRect">
            <a:avLst>
              <a:gd name="adj" fmla="val 3571"/>
            </a:avLst>
          </a:prstGeom>
          <a:solidFill>
            <a:srgbClr val="1C2541"/>
          </a:solidFill>
          <a:ln w="12700">
            <a:solidFill>
              <a:srgbClr val="334155"/>
            </a:solidFill>
            <a:prstDash val="solid"/>
          </a:ln>
        </p:spPr>
      </p:sp>
      <p:sp>
        <p:nvSpPr>
          <p:cNvPr id="6" name="Text 4"/>
          <p:cNvSpPr/>
          <p:nvPr/>
        </p:nvSpPr>
        <p:spPr>
          <a:xfrm>
            <a:off x="1005840" y="1554480"/>
            <a:ext cx="4572000" cy="320040"/>
          </a:xfrm>
          <a:prstGeom prst="rect">
            <a:avLst/>
          </a:prstGeom>
          <a:noFill/>
          <a:ln/>
        </p:spPr>
        <p:txBody>
          <a:bodyPr wrap="square" rtlCol="0" anchor="ctr"/>
          <a:lstStyle/>
          <a:p>
            <a:pPr indent="0" marL="0">
              <a:buNone/>
            </a:pPr>
            <a:r>
              <a:rPr lang="en-US" sz="1300" b="1" dirty="0">
                <a:solidFill>
                  <a:srgbClr val="EA580C"/>
                </a:solidFill>
                <a:latin typeface="Segoe UI" pitchFamily="34" charset="0"/>
                <a:ea typeface="Segoe UI" pitchFamily="34" charset="-122"/>
                <a:cs typeface="Segoe UI" pitchFamily="34" charset="-120"/>
              </a:rPr>
              <a:t>PIERC 3-STAGE PROGRESSION ROADMAP</a:t>
            </a:r>
            <a:endParaRPr lang="en-US" sz="1300" dirty="0"/>
          </a:p>
        </p:txBody>
      </p:sp>
      <p:sp>
        <p:nvSpPr>
          <p:cNvPr id="7" name="Text 5"/>
          <p:cNvSpPr/>
          <p:nvPr/>
        </p:nvSpPr>
        <p:spPr>
          <a:xfrm>
            <a:off x="1005840" y="1965960"/>
            <a:ext cx="4572000" cy="274320"/>
          </a:xfrm>
          <a:prstGeom prst="rect">
            <a:avLst/>
          </a:prstGeom>
          <a:noFill/>
          <a:ln/>
        </p:spPr>
        <p:txBody>
          <a:bodyPr wrap="square" rtlCol="0" anchor="t"/>
          <a:lstStyle/>
          <a:p>
            <a:pPr indent="0" marL="0">
              <a:buNone/>
            </a:pPr>
            <a:r>
              <a:rPr lang="en-US" sz="1050" b="1" dirty="0">
                <a:solidFill>
                  <a:srgbClr val="FFFFFF"/>
                </a:solidFill>
                <a:latin typeface="Segoe UI" pitchFamily="34" charset="0"/>
                <a:ea typeface="Segoe UI" pitchFamily="34" charset="-122"/>
                <a:cs typeface="Segoe UI" pitchFamily="34" charset="-120"/>
              </a:rPr>
              <a:t>📍 IDEA STAGE (WEEKS 1–2)</a:t>
            </a:r>
            <a:endParaRPr lang="en-US" sz="1050" dirty="0"/>
          </a:p>
        </p:txBody>
      </p:sp>
      <p:sp>
        <p:nvSpPr>
          <p:cNvPr id="8" name="Text 6"/>
          <p:cNvSpPr/>
          <p:nvPr/>
        </p:nvSpPr>
        <p:spPr>
          <a:xfrm>
            <a:off x="1280160" y="2240280"/>
            <a:ext cx="4297680" cy="685800"/>
          </a:xfrm>
          <a:prstGeom prst="rect">
            <a:avLst/>
          </a:prstGeom>
          <a:noFill/>
          <a:ln/>
        </p:spPr>
        <p:txBody>
          <a:bodyPr wrap="square" rtlCol="0" anchor="t"/>
          <a:lstStyle/>
          <a:p>
            <a:pPr indent="0" marL="0">
              <a:buNone/>
            </a:pPr>
            <a:r>
              <a:rPr lang="en-US" sz="950" dirty="0">
                <a:solidFill>
                  <a:srgbClr val="94A3B8"/>
                </a:solidFill>
                <a:latin typeface="Segoe UI" pitchFamily="34" charset="0"/>
                <a:ea typeface="Segoe UI" pitchFamily="34" charset="-122"/>
                <a:cs typeface="Segoe UI" pitchFamily="34" charset="-120"/>
              </a:rPr>
              <a:t>Conduct ground surveys with 30 Makarpura GIDC factories via PIERC market research programs to refine 4-tier verification protocol.</a:t>
            </a:r>
            <a:endParaRPr lang="en-US" sz="950" dirty="0"/>
          </a:p>
        </p:txBody>
      </p:sp>
      <p:sp>
        <p:nvSpPr>
          <p:cNvPr id="9" name="Text 7"/>
          <p:cNvSpPr/>
          <p:nvPr/>
        </p:nvSpPr>
        <p:spPr>
          <a:xfrm>
            <a:off x="1005840" y="2971800"/>
            <a:ext cx="4572000" cy="274320"/>
          </a:xfrm>
          <a:prstGeom prst="rect">
            <a:avLst/>
          </a:prstGeom>
          <a:noFill/>
          <a:ln/>
        </p:spPr>
        <p:txBody>
          <a:bodyPr wrap="square" rtlCol="0" anchor="t"/>
          <a:lstStyle/>
          <a:p>
            <a:pPr indent="0" marL="0">
              <a:buNone/>
            </a:pPr>
            <a:r>
              <a:rPr lang="en-US" sz="1050" b="1" dirty="0">
                <a:solidFill>
                  <a:srgbClr val="FFFFFF"/>
                </a:solidFill>
                <a:latin typeface="Segoe UI" pitchFamily="34" charset="0"/>
                <a:ea typeface="Segoe UI" pitchFamily="34" charset="-122"/>
                <a:cs typeface="Segoe UI" pitchFamily="34" charset="-120"/>
              </a:rPr>
              <a:t>📍 PROTOTYPE STAGE (MONTHS 2–4)</a:t>
            </a:r>
            <a:endParaRPr lang="en-US" sz="1050" dirty="0"/>
          </a:p>
        </p:txBody>
      </p:sp>
      <p:sp>
        <p:nvSpPr>
          <p:cNvPr id="10" name="Text 8"/>
          <p:cNvSpPr/>
          <p:nvPr/>
        </p:nvSpPr>
        <p:spPr>
          <a:xfrm>
            <a:off x="1280160" y="3246120"/>
            <a:ext cx="4297680" cy="685800"/>
          </a:xfrm>
          <a:prstGeom prst="rect">
            <a:avLst/>
          </a:prstGeom>
          <a:noFill/>
          <a:ln/>
        </p:spPr>
        <p:txBody>
          <a:bodyPr wrap="square" rtlCol="0" anchor="t"/>
          <a:lstStyle/>
          <a:p>
            <a:pPr indent="0" marL="0">
              <a:buNone/>
            </a:pPr>
            <a:r>
              <a:rPr lang="en-US" sz="950" dirty="0">
                <a:solidFill>
                  <a:srgbClr val="94A3B8"/>
                </a:solidFill>
                <a:latin typeface="Segoe UI" pitchFamily="34" charset="0"/>
                <a:ea typeface="Segoe UI" pitchFamily="34" charset="-122"/>
                <a:cs typeface="Segoe UI" pitchFamily="34" charset="-120"/>
              </a:rPr>
              <a:t>Deploy live Supabase backend, integrate MasterIndia GSTIN API, and complete corporate incorporation + IPR filing via PIERC legal support.</a:t>
            </a:r>
            <a:endParaRPr lang="en-US" sz="950" dirty="0"/>
          </a:p>
        </p:txBody>
      </p:sp>
      <p:sp>
        <p:nvSpPr>
          <p:cNvPr id="11" name="Text 9"/>
          <p:cNvSpPr/>
          <p:nvPr/>
        </p:nvSpPr>
        <p:spPr>
          <a:xfrm>
            <a:off x="1005840" y="3977640"/>
            <a:ext cx="4572000" cy="274320"/>
          </a:xfrm>
          <a:prstGeom prst="rect">
            <a:avLst/>
          </a:prstGeom>
          <a:noFill/>
          <a:ln/>
        </p:spPr>
        <p:txBody>
          <a:bodyPr wrap="square" rtlCol="0" anchor="t"/>
          <a:lstStyle/>
          <a:p>
            <a:pPr indent="0" marL="0">
              <a:buNone/>
            </a:pPr>
            <a:r>
              <a:rPr lang="en-US" sz="1050" b="1" dirty="0">
                <a:solidFill>
                  <a:srgbClr val="FFFFFF"/>
                </a:solidFill>
                <a:latin typeface="Segoe UI" pitchFamily="34" charset="0"/>
                <a:ea typeface="Segoe UI" pitchFamily="34" charset="-122"/>
                <a:cs typeface="Segoe UI" pitchFamily="34" charset="-120"/>
              </a:rPr>
              <a:t>📍 GROWTH STAGE (MONTHS 5–12)</a:t>
            </a:r>
            <a:endParaRPr lang="en-US" sz="1050" dirty="0"/>
          </a:p>
        </p:txBody>
      </p:sp>
      <p:sp>
        <p:nvSpPr>
          <p:cNvPr id="12" name="Text 10"/>
          <p:cNvSpPr/>
          <p:nvPr/>
        </p:nvSpPr>
        <p:spPr>
          <a:xfrm>
            <a:off x="1280160" y="4251960"/>
            <a:ext cx="4297680" cy="685800"/>
          </a:xfrm>
          <a:prstGeom prst="rect">
            <a:avLst/>
          </a:prstGeom>
          <a:noFill/>
          <a:ln/>
        </p:spPr>
        <p:txBody>
          <a:bodyPr wrap="square" rtlCol="0" anchor="t"/>
          <a:lstStyle/>
          <a:p>
            <a:pPr indent="0" marL="0">
              <a:buNone/>
            </a:pPr>
            <a:r>
              <a:rPr lang="en-US" sz="950" dirty="0">
                <a:solidFill>
                  <a:srgbClr val="94A3B8"/>
                </a:solidFill>
                <a:latin typeface="Segoe UI" pitchFamily="34" charset="0"/>
                <a:ea typeface="Segoe UI" pitchFamily="34" charset="-122"/>
                <a:cs typeface="Segoe UI" pitchFamily="34" charset="-120"/>
              </a:rPr>
              <a:t>Execute LinkedIn outbound to 200 global buyers, generate first 5 verified RFQs, achieve ₹50L ARR run-rate, and prepare for Seed Round.</a:t>
            </a:r>
            <a:endParaRPr lang="en-US" sz="950" dirty="0"/>
          </a:p>
        </p:txBody>
      </p:sp>
      <p:sp>
        <p:nvSpPr>
          <p:cNvPr id="13" name="Shape 11"/>
          <p:cNvSpPr/>
          <p:nvPr/>
        </p:nvSpPr>
        <p:spPr>
          <a:xfrm>
            <a:off x="6217920" y="1371600"/>
            <a:ext cx="5212080" cy="3840480"/>
          </a:xfrm>
          <a:prstGeom prst="roundRect">
            <a:avLst>
              <a:gd name="adj" fmla="val 3571"/>
            </a:avLst>
          </a:prstGeom>
          <a:solidFill>
            <a:srgbClr val="1C2541"/>
          </a:solidFill>
          <a:ln w="12700">
            <a:solidFill>
              <a:srgbClr val="334155"/>
            </a:solidFill>
            <a:prstDash val="solid"/>
          </a:ln>
        </p:spPr>
      </p:sp>
      <p:sp>
        <p:nvSpPr>
          <p:cNvPr id="14" name="Text 12"/>
          <p:cNvSpPr/>
          <p:nvPr/>
        </p:nvSpPr>
        <p:spPr>
          <a:xfrm>
            <a:off x="6492240" y="1554480"/>
            <a:ext cx="4663440" cy="320040"/>
          </a:xfrm>
          <a:prstGeom prst="rect">
            <a:avLst/>
          </a:prstGeom>
          <a:noFill/>
          <a:ln/>
        </p:spPr>
        <p:txBody>
          <a:bodyPr wrap="square" rtlCol="0" anchor="ctr"/>
          <a:lstStyle/>
          <a:p>
            <a:pPr indent="0" marL="0">
              <a:buNone/>
            </a:pPr>
            <a:r>
              <a:rPr lang="en-US" sz="1300" b="1" dirty="0">
                <a:solidFill>
                  <a:srgbClr val="D97706"/>
                </a:solidFill>
                <a:latin typeface="Segoe UI" pitchFamily="34" charset="0"/>
                <a:ea typeface="Segoe UI" pitchFamily="34" charset="-122"/>
                <a:cs typeface="Segoe UI" pitchFamily="34" charset="-120"/>
              </a:rPr>
              <a:t>UTILIZATION OF ₹10 LAKHS FUNDING SUPPORT</a:t>
            </a:r>
            <a:endParaRPr lang="en-US" sz="1300" dirty="0"/>
          </a:p>
        </p:txBody>
      </p:sp>
      <p:sp>
        <p:nvSpPr>
          <p:cNvPr id="15" name="Text 13"/>
          <p:cNvSpPr/>
          <p:nvPr/>
        </p:nvSpPr>
        <p:spPr>
          <a:xfrm>
            <a:off x="6492240" y="1965960"/>
            <a:ext cx="3383280" cy="228600"/>
          </a:xfrm>
          <a:prstGeom prst="rect">
            <a:avLst/>
          </a:prstGeom>
          <a:noFill/>
          <a:ln/>
        </p:spPr>
        <p:txBody>
          <a:bodyPr wrap="square" rtlCol="0" anchor="t"/>
          <a:lstStyle/>
          <a:p>
            <a:pPr indent="0" marL="0">
              <a:buNone/>
            </a:pPr>
            <a:r>
              <a:rPr lang="en-US" sz="950" b="1" dirty="0">
                <a:solidFill>
                  <a:srgbClr val="FFFFFF"/>
                </a:solidFill>
                <a:latin typeface="Segoe UI" pitchFamily="34" charset="0"/>
                <a:ea typeface="Segoe UI" pitchFamily="34" charset="-122"/>
                <a:cs typeface="Segoe UI" pitchFamily="34" charset="-120"/>
              </a:rPr>
              <a:t>GIDC Field Operations &amp; Factory Cataloging</a:t>
            </a:r>
            <a:endParaRPr lang="en-US" sz="950" dirty="0"/>
          </a:p>
        </p:txBody>
      </p:sp>
      <p:sp>
        <p:nvSpPr>
          <p:cNvPr id="16" name="Text 14"/>
          <p:cNvSpPr/>
          <p:nvPr/>
        </p:nvSpPr>
        <p:spPr>
          <a:xfrm>
            <a:off x="9875520" y="1965960"/>
            <a:ext cx="1280160" cy="228600"/>
          </a:xfrm>
          <a:prstGeom prst="rect">
            <a:avLst/>
          </a:prstGeom>
          <a:noFill/>
          <a:ln/>
        </p:spPr>
        <p:txBody>
          <a:bodyPr wrap="square" rtlCol="0" anchor="t"/>
          <a:lstStyle/>
          <a:p>
            <a:pPr algn="r" indent="0" marL="0">
              <a:buNone/>
            </a:pPr>
            <a:r>
              <a:rPr lang="en-US" sz="950" b="1" dirty="0">
                <a:solidFill>
                  <a:srgbClr val="D97706"/>
                </a:solidFill>
                <a:latin typeface="Segoe UI" pitchFamily="34" charset="0"/>
                <a:ea typeface="Segoe UI" pitchFamily="34" charset="-122"/>
                <a:cs typeface="Segoe UI" pitchFamily="34" charset="-120"/>
              </a:rPr>
              <a:t>₹2.5 Lakhs</a:t>
            </a:r>
            <a:endParaRPr lang="en-US" sz="950" dirty="0"/>
          </a:p>
        </p:txBody>
      </p:sp>
      <p:sp>
        <p:nvSpPr>
          <p:cNvPr id="17" name="Text 15"/>
          <p:cNvSpPr/>
          <p:nvPr/>
        </p:nvSpPr>
        <p:spPr>
          <a:xfrm>
            <a:off x="6492240" y="2194560"/>
            <a:ext cx="4663440" cy="347472"/>
          </a:xfrm>
          <a:prstGeom prst="rect">
            <a:avLst/>
          </a:prstGeom>
          <a:noFill/>
          <a:ln/>
        </p:spPr>
        <p:txBody>
          <a:bodyPr wrap="square" rtlCol="0" anchor="t"/>
          <a:lstStyle/>
          <a:p>
            <a:pPr indent="0" marL="0">
              <a:buNone/>
            </a:pPr>
            <a:r>
              <a:rPr lang="en-US" sz="850" dirty="0">
                <a:solidFill>
                  <a:srgbClr val="94A3B8"/>
                </a:solidFill>
                <a:latin typeface="Segoe UI" pitchFamily="34" charset="0"/>
                <a:ea typeface="Segoe UI" pitchFamily="34" charset="-122"/>
                <a:cs typeface="Segoe UI" pitchFamily="34" charset="-120"/>
              </a:rPr>
              <a:t>50 on-site factory video audits in Makarpura/Vatva</a:t>
            </a:r>
            <a:endParaRPr lang="en-US" sz="850" dirty="0"/>
          </a:p>
        </p:txBody>
      </p:sp>
      <p:sp>
        <p:nvSpPr>
          <p:cNvPr id="18" name="Text 16"/>
          <p:cNvSpPr/>
          <p:nvPr/>
        </p:nvSpPr>
        <p:spPr>
          <a:xfrm>
            <a:off x="6492240" y="2587752"/>
            <a:ext cx="3383280" cy="228600"/>
          </a:xfrm>
          <a:prstGeom prst="rect">
            <a:avLst/>
          </a:prstGeom>
          <a:noFill/>
          <a:ln/>
        </p:spPr>
        <p:txBody>
          <a:bodyPr wrap="square" rtlCol="0" anchor="t"/>
          <a:lstStyle/>
          <a:p>
            <a:pPr indent="0" marL="0">
              <a:buNone/>
            </a:pPr>
            <a:r>
              <a:rPr lang="en-US" sz="950" b="1" dirty="0">
                <a:solidFill>
                  <a:srgbClr val="FFFFFF"/>
                </a:solidFill>
                <a:latin typeface="Segoe UI" pitchFamily="34" charset="0"/>
                <a:ea typeface="Segoe UI" pitchFamily="34" charset="-122"/>
                <a:cs typeface="Segoe UI" pitchFamily="34" charset="-120"/>
              </a:rPr>
              <a:t>Parul Student Tech Talent Hire</a:t>
            </a:r>
            <a:endParaRPr lang="en-US" sz="950" dirty="0"/>
          </a:p>
        </p:txBody>
      </p:sp>
      <p:sp>
        <p:nvSpPr>
          <p:cNvPr id="19" name="Text 17"/>
          <p:cNvSpPr/>
          <p:nvPr/>
        </p:nvSpPr>
        <p:spPr>
          <a:xfrm>
            <a:off x="9875520" y="2587752"/>
            <a:ext cx="1280160" cy="228600"/>
          </a:xfrm>
          <a:prstGeom prst="rect">
            <a:avLst/>
          </a:prstGeom>
          <a:noFill/>
          <a:ln/>
        </p:spPr>
        <p:txBody>
          <a:bodyPr wrap="square" rtlCol="0" anchor="t"/>
          <a:lstStyle/>
          <a:p>
            <a:pPr algn="r" indent="0" marL="0">
              <a:buNone/>
            </a:pPr>
            <a:r>
              <a:rPr lang="en-US" sz="950" b="1" dirty="0">
                <a:solidFill>
                  <a:srgbClr val="D97706"/>
                </a:solidFill>
                <a:latin typeface="Segoe UI" pitchFamily="34" charset="0"/>
                <a:ea typeface="Segoe UI" pitchFamily="34" charset="-122"/>
                <a:cs typeface="Segoe UI" pitchFamily="34" charset="-120"/>
              </a:rPr>
              <a:t>₹3.0 Lakhs</a:t>
            </a:r>
            <a:endParaRPr lang="en-US" sz="950" dirty="0"/>
          </a:p>
        </p:txBody>
      </p:sp>
      <p:sp>
        <p:nvSpPr>
          <p:cNvPr id="20" name="Text 18"/>
          <p:cNvSpPr/>
          <p:nvPr/>
        </p:nvSpPr>
        <p:spPr>
          <a:xfrm>
            <a:off x="6492240" y="2816352"/>
            <a:ext cx="4663440" cy="347472"/>
          </a:xfrm>
          <a:prstGeom prst="rect">
            <a:avLst/>
          </a:prstGeom>
          <a:noFill/>
          <a:ln/>
        </p:spPr>
        <p:txBody>
          <a:bodyPr wrap="square" rtlCol="0" anchor="t"/>
          <a:lstStyle/>
          <a:p>
            <a:pPr indent="0" marL="0">
              <a:buNone/>
            </a:pPr>
            <a:r>
              <a:rPr lang="en-US" sz="850" dirty="0">
                <a:solidFill>
                  <a:srgbClr val="94A3B8"/>
                </a:solidFill>
                <a:latin typeface="Segoe UI" pitchFamily="34" charset="0"/>
                <a:ea typeface="Segoe UI" pitchFamily="34" charset="-122"/>
                <a:cs typeface="Segoe UI" pitchFamily="34" charset="-120"/>
              </a:rPr>
              <a:t>2 technical student developer interns (6 months)</a:t>
            </a:r>
            <a:endParaRPr lang="en-US" sz="850" dirty="0"/>
          </a:p>
        </p:txBody>
      </p:sp>
      <p:sp>
        <p:nvSpPr>
          <p:cNvPr id="21" name="Text 19"/>
          <p:cNvSpPr/>
          <p:nvPr/>
        </p:nvSpPr>
        <p:spPr>
          <a:xfrm>
            <a:off x="6492240" y="3209544"/>
            <a:ext cx="3383280" cy="228600"/>
          </a:xfrm>
          <a:prstGeom prst="rect">
            <a:avLst/>
          </a:prstGeom>
          <a:noFill/>
          <a:ln/>
        </p:spPr>
        <p:txBody>
          <a:bodyPr wrap="square" rtlCol="0" anchor="t"/>
          <a:lstStyle/>
          <a:p>
            <a:pPr indent="0" marL="0">
              <a:buNone/>
            </a:pPr>
            <a:r>
              <a:rPr lang="en-US" sz="950" b="1" dirty="0">
                <a:solidFill>
                  <a:srgbClr val="FFFFFF"/>
                </a:solidFill>
                <a:latin typeface="Segoe UI" pitchFamily="34" charset="0"/>
                <a:ea typeface="Segoe UI" pitchFamily="34" charset="-122"/>
                <a:cs typeface="Segoe UI" pitchFamily="34" charset="-120"/>
              </a:rPr>
              <a:t>Production API &amp; Cloud Infrastructure</a:t>
            </a:r>
            <a:endParaRPr lang="en-US" sz="950" dirty="0"/>
          </a:p>
        </p:txBody>
      </p:sp>
      <p:sp>
        <p:nvSpPr>
          <p:cNvPr id="22" name="Text 20"/>
          <p:cNvSpPr/>
          <p:nvPr/>
        </p:nvSpPr>
        <p:spPr>
          <a:xfrm>
            <a:off x="9875520" y="3209544"/>
            <a:ext cx="1280160" cy="228600"/>
          </a:xfrm>
          <a:prstGeom prst="rect">
            <a:avLst/>
          </a:prstGeom>
          <a:noFill/>
          <a:ln/>
        </p:spPr>
        <p:txBody>
          <a:bodyPr wrap="square" rtlCol="0" anchor="t"/>
          <a:lstStyle/>
          <a:p>
            <a:pPr algn="r" indent="0" marL="0">
              <a:buNone/>
            </a:pPr>
            <a:r>
              <a:rPr lang="en-US" sz="950" b="1" dirty="0">
                <a:solidFill>
                  <a:srgbClr val="D97706"/>
                </a:solidFill>
                <a:latin typeface="Segoe UI" pitchFamily="34" charset="0"/>
                <a:ea typeface="Segoe UI" pitchFamily="34" charset="-122"/>
                <a:cs typeface="Segoe UI" pitchFamily="34" charset="-120"/>
              </a:rPr>
              <a:t>₹1.5 Lakhs</a:t>
            </a:r>
            <a:endParaRPr lang="en-US" sz="950" dirty="0"/>
          </a:p>
        </p:txBody>
      </p:sp>
      <p:sp>
        <p:nvSpPr>
          <p:cNvPr id="23" name="Text 21"/>
          <p:cNvSpPr/>
          <p:nvPr/>
        </p:nvSpPr>
        <p:spPr>
          <a:xfrm>
            <a:off x="6492240" y="3438144"/>
            <a:ext cx="4663440" cy="347472"/>
          </a:xfrm>
          <a:prstGeom prst="rect">
            <a:avLst/>
          </a:prstGeom>
          <a:noFill/>
          <a:ln/>
        </p:spPr>
        <p:txBody>
          <a:bodyPr wrap="square" rtlCol="0" anchor="t"/>
          <a:lstStyle/>
          <a:p>
            <a:pPr indent="0" marL="0">
              <a:buNone/>
            </a:pPr>
            <a:r>
              <a:rPr lang="en-US" sz="850" dirty="0">
                <a:solidFill>
                  <a:srgbClr val="94A3B8"/>
                </a:solidFill>
                <a:latin typeface="Segoe UI" pitchFamily="34" charset="0"/>
                <a:ea typeface="Segoe UI" pitchFamily="34" charset="-122"/>
                <a:cs typeface="Segoe UI" pitchFamily="34" charset="-120"/>
              </a:rPr>
              <a:t>Live GSP GSTIN check APIs, Supabase &amp; Resend servers</a:t>
            </a:r>
            <a:endParaRPr lang="en-US" sz="850" dirty="0"/>
          </a:p>
        </p:txBody>
      </p:sp>
      <p:sp>
        <p:nvSpPr>
          <p:cNvPr id="24" name="Text 22"/>
          <p:cNvSpPr/>
          <p:nvPr/>
        </p:nvSpPr>
        <p:spPr>
          <a:xfrm>
            <a:off x="6492240" y="3831336"/>
            <a:ext cx="3383280" cy="228600"/>
          </a:xfrm>
          <a:prstGeom prst="rect">
            <a:avLst/>
          </a:prstGeom>
          <a:noFill/>
          <a:ln/>
        </p:spPr>
        <p:txBody>
          <a:bodyPr wrap="square" rtlCol="0" anchor="t"/>
          <a:lstStyle/>
          <a:p>
            <a:pPr indent="0" marL="0">
              <a:buNone/>
            </a:pPr>
            <a:r>
              <a:rPr lang="en-US" sz="950" b="1" dirty="0">
                <a:solidFill>
                  <a:srgbClr val="FFFFFF"/>
                </a:solidFill>
                <a:latin typeface="Segoe UI" pitchFamily="34" charset="0"/>
                <a:ea typeface="Segoe UI" pitchFamily="34" charset="-122"/>
                <a:cs typeface="Segoe UI" pitchFamily="34" charset="-120"/>
              </a:rPr>
              <a:t>Legal, IPR &amp; Company Incorporation</a:t>
            </a:r>
            <a:endParaRPr lang="en-US" sz="950" dirty="0"/>
          </a:p>
        </p:txBody>
      </p:sp>
      <p:sp>
        <p:nvSpPr>
          <p:cNvPr id="25" name="Text 23"/>
          <p:cNvSpPr/>
          <p:nvPr/>
        </p:nvSpPr>
        <p:spPr>
          <a:xfrm>
            <a:off x="9875520" y="3831336"/>
            <a:ext cx="1280160" cy="228600"/>
          </a:xfrm>
          <a:prstGeom prst="rect">
            <a:avLst/>
          </a:prstGeom>
          <a:noFill/>
          <a:ln/>
        </p:spPr>
        <p:txBody>
          <a:bodyPr wrap="square" rtlCol="0" anchor="t"/>
          <a:lstStyle/>
          <a:p>
            <a:pPr algn="r" indent="0" marL="0">
              <a:buNone/>
            </a:pPr>
            <a:r>
              <a:rPr lang="en-US" sz="950" b="1" dirty="0">
                <a:solidFill>
                  <a:srgbClr val="D97706"/>
                </a:solidFill>
                <a:latin typeface="Segoe UI" pitchFamily="34" charset="0"/>
                <a:ea typeface="Segoe UI" pitchFamily="34" charset="-122"/>
                <a:cs typeface="Segoe UI" pitchFamily="34" charset="-120"/>
              </a:rPr>
              <a:t>₹1.0 Lakh</a:t>
            </a:r>
            <a:endParaRPr lang="en-US" sz="950" dirty="0"/>
          </a:p>
        </p:txBody>
      </p:sp>
      <p:sp>
        <p:nvSpPr>
          <p:cNvPr id="26" name="Text 24"/>
          <p:cNvSpPr/>
          <p:nvPr/>
        </p:nvSpPr>
        <p:spPr>
          <a:xfrm>
            <a:off x="6492240" y="4059936"/>
            <a:ext cx="4663440" cy="347472"/>
          </a:xfrm>
          <a:prstGeom prst="rect">
            <a:avLst/>
          </a:prstGeom>
          <a:noFill/>
          <a:ln/>
        </p:spPr>
        <p:txBody>
          <a:bodyPr wrap="square" rtlCol="0" anchor="t"/>
          <a:lstStyle/>
          <a:p>
            <a:pPr indent="0" marL="0">
              <a:buNone/>
            </a:pPr>
            <a:r>
              <a:rPr lang="en-US" sz="850" dirty="0">
                <a:solidFill>
                  <a:srgbClr val="94A3B8"/>
                </a:solidFill>
                <a:latin typeface="Segoe UI" pitchFamily="34" charset="0"/>
                <a:ea typeface="Segoe UI" pitchFamily="34" charset="-122"/>
                <a:cs typeface="Segoe UI" pitchFamily="34" charset="-120"/>
              </a:rPr>
              <a:t>Trademark, compliance, and custom trade escrow model</a:t>
            </a:r>
            <a:endParaRPr lang="en-US" sz="850" dirty="0"/>
          </a:p>
        </p:txBody>
      </p:sp>
      <p:sp>
        <p:nvSpPr>
          <p:cNvPr id="27" name="Text 25"/>
          <p:cNvSpPr/>
          <p:nvPr/>
        </p:nvSpPr>
        <p:spPr>
          <a:xfrm>
            <a:off x="6492240" y="4453128"/>
            <a:ext cx="3383280" cy="228600"/>
          </a:xfrm>
          <a:prstGeom prst="rect">
            <a:avLst/>
          </a:prstGeom>
          <a:noFill/>
          <a:ln/>
        </p:spPr>
        <p:txBody>
          <a:bodyPr wrap="square" rtlCol="0" anchor="t"/>
          <a:lstStyle/>
          <a:p>
            <a:pPr indent="0" marL="0">
              <a:buNone/>
            </a:pPr>
            <a:r>
              <a:rPr lang="en-US" sz="950" b="1" dirty="0">
                <a:solidFill>
                  <a:srgbClr val="FFFFFF"/>
                </a:solidFill>
                <a:latin typeface="Segoe UI" pitchFamily="34" charset="0"/>
                <a:ea typeface="Segoe UI" pitchFamily="34" charset="-122"/>
                <a:cs typeface="Segoe UI" pitchFamily="34" charset="-120"/>
              </a:rPr>
              <a:t>Working Capital &amp; Contingency Runway</a:t>
            </a:r>
            <a:endParaRPr lang="en-US" sz="950" dirty="0"/>
          </a:p>
        </p:txBody>
      </p:sp>
      <p:sp>
        <p:nvSpPr>
          <p:cNvPr id="28" name="Text 26"/>
          <p:cNvSpPr/>
          <p:nvPr/>
        </p:nvSpPr>
        <p:spPr>
          <a:xfrm>
            <a:off x="9875520" y="4453128"/>
            <a:ext cx="1280160" cy="228600"/>
          </a:xfrm>
          <a:prstGeom prst="rect">
            <a:avLst/>
          </a:prstGeom>
          <a:noFill/>
          <a:ln/>
        </p:spPr>
        <p:txBody>
          <a:bodyPr wrap="square" rtlCol="0" anchor="t"/>
          <a:lstStyle/>
          <a:p>
            <a:pPr algn="r" indent="0" marL="0">
              <a:buNone/>
            </a:pPr>
            <a:r>
              <a:rPr lang="en-US" sz="950" b="1" dirty="0">
                <a:solidFill>
                  <a:srgbClr val="D97706"/>
                </a:solidFill>
                <a:latin typeface="Segoe UI" pitchFamily="34" charset="0"/>
                <a:ea typeface="Segoe UI" pitchFamily="34" charset="-122"/>
                <a:cs typeface="Segoe UI" pitchFamily="34" charset="-120"/>
              </a:rPr>
              <a:t>₹2.0 Lakhs</a:t>
            </a:r>
            <a:endParaRPr lang="en-US" sz="950" dirty="0"/>
          </a:p>
        </p:txBody>
      </p:sp>
      <p:sp>
        <p:nvSpPr>
          <p:cNvPr id="29" name="Text 27"/>
          <p:cNvSpPr/>
          <p:nvPr/>
        </p:nvSpPr>
        <p:spPr>
          <a:xfrm>
            <a:off x="6492240" y="4681728"/>
            <a:ext cx="4663440" cy="347472"/>
          </a:xfrm>
          <a:prstGeom prst="rect">
            <a:avLst/>
          </a:prstGeom>
          <a:noFill/>
          <a:ln/>
        </p:spPr>
        <p:txBody>
          <a:bodyPr wrap="square" rtlCol="0" anchor="t"/>
          <a:lstStyle/>
          <a:p>
            <a:pPr indent="0" marL="0">
              <a:buNone/>
            </a:pPr>
            <a:r>
              <a:rPr lang="en-US" sz="850" dirty="0">
                <a:solidFill>
                  <a:srgbClr val="94A3B8"/>
                </a:solidFill>
                <a:latin typeface="Segoe UI" pitchFamily="34" charset="0"/>
                <a:ea typeface="Segoe UI" pitchFamily="34" charset="-122"/>
                <a:cs typeface="Segoe UI" pitchFamily="34" charset="-120"/>
              </a:rPr>
              <a:t>Zero-paid-ad operational runway for 12 months</a:t>
            </a:r>
            <a:endParaRPr lang="en-US" sz="850" dirty="0"/>
          </a:p>
        </p:txBody>
      </p:sp>
      <p:sp>
        <p:nvSpPr>
          <p:cNvPr id="30" name="Text 28"/>
          <p:cNvSpPr/>
          <p:nvPr/>
        </p:nvSpPr>
        <p:spPr>
          <a:xfrm>
            <a:off x="731520" y="5394960"/>
            <a:ext cx="10698480" cy="548640"/>
          </a:xfrm>
          <a:prstGeom prst="rect">
            <a:avLst/>
          </a:prstGeom>
          <a:noFill/>
          <a:ln/>
        </p:spPr>
        <p:txBody>
          <a:bodyPr wrap="square" rtlCol="0" anchor="ctr"/>
          <a:lstStyle/>
          <a:p>
            <a:pPr algn="ctr" indent="0" marL="0">
              <a:buNone/>
            </a:pPr>
            <a:r>
              <a:rPr lang="en-US" sz="1300" b="1" dirty="0">
                <a:solidFill>
                  <a:srgbClr val="FFFFFF"/>
                </a:solidFill>
                <a:latin typeface="Segoe UI" pitchFamily="34" charset="0"/>
                <a:ea typeface="Segoe UI" pitchFamily="34" charset="-122"/>
                <a:cs typeface="Segoe UI" pitchFamily="34" charset="-120"/>
              </a:rPr>
              <a:t>Artha Corridor: Building India’s Manufacturing Trust Infrastructure · Thank You · Q&amp;A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standalone="yes"?>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vt:lpstr>Fonts Used</vt:lpstr></vt:variant>
			<vt:variant><vt:i4>2</vt:i4></vt:variant>
			<vt:variant><vt:lpstr>Theme</vt:lpstr></vt:variant>
			<vt:variant><vt:i4>1</vt:i4></vt:variant>
			<vt:variant><vt:lpstr>Slide Titles</vt:lpstr></vt:variant>
			<vt:variant><vt:i4>10</vt:i4></vt:variant>
		</vt:vector>
	</HeadingPairs>
	<TitlesOfParts>
		<vt:vector size="13" baseType="lpstr">
			<vt:lpstr>Arial</vt:lpstr>
			<vt:lpstr>Calibri</vt:lpstr>
			<vt:lpstr>Office Theme</vt:lpstr>
			<vt:lpstr>Slide 1</vt:lpstr><vt:lpstr>Slide 2</vt:lpstr><vt:lpstr>Slide 3</vt:lpstr><vt:lpstr>Slide 4</vt:lpstr><vt:lpstr>Slide 5</vt:lpstr><vt:lpstr>Slide 6</vt:lpstr><vt:lpstr>Slide 7</vt:lpstr><vt:lpstr>Slide 8</vt:lpstr><vt:lpstr>Slide 9</vt:lpstr><vt:lpstr>Slide 10</vt:lpstr>
		</vt:vector>
	</TitlesOfParts>
	<Company>Parul Innovation & Entrepreneurship Research Centre (PIERC)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Artha Corridor — PIERC Idea Selection Pitch Deck</dc:title>
  <dc:subject>PptxGenJS Presentation</dc:subject>
  <dc:creator>Artha Corridor</dc:creator>
  <cp:lastModifiedBy>Artha Corridor</cp:lastModifiedBy>
  <cp:revision>1</cp:revision>
  <dcterms:created xsi:type="dcterms:W3CDTF">2026-08-18T12:23:29Z</dcterms:created>
  <dcterms:modified xsi:type="dcterms:W3CDTF">2026-08-18T12:23:29Z</dcterms:modified>
</cp:coreProperties>
</file>